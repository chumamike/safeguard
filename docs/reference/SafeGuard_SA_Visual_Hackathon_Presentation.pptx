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johannesburgwater.co.za/blog/2025/04/08/theft-and-vandalism-of-water-infrastructure-in-johannesburg-is-crippling-effective-service-delivery-2/" TargetMode="External"/><Relationship Id="rId2" Type="http://schemas.openxmlformats.org/officeDocument/2006/relationships/hyperlink" Target="https://www.enca.com/top-stories/outrage-over-toddlers-death-open-manhole-khutsong" TargetMode="External"/><Relationship Id="rId3" Type="http://schemas.openxmlformats.org/officeDocument/2006/relationships/hyperlink" Target="https://www.gov.za/documents/protection-personal-information-act" TargetMode="External"/><Relationship Id="rId4" Type="http://schemas.openxmlformats.org/officeDocument/2006/relationships/hyperlink" Target="https://www.fixlocal.org.za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94576" y="0"/>
            <a:ext cx="5157216" cy="5157216"/>
          </a:xfrm>
          <a:prstGeom prst="ellipse">
            <a:avLst>
              <a:gd name="adj" fmla="val 2482"/>
            </a:avLst>
          </a:prstGeom>
          <a:solidFill>
            <a:srgbClr val="102B43"/>
          </a:solidFill>
          <a:ln w="12700">
            <a:solidFill>
              <a:srgbClr val="102B4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88352" y="274320"/>
            <a:ext cx="4617720" cy="4617720"/>
          </a:xfrm>
          <a:prstGeom prst="ellipse">
            <a:avLst>
              <a:gd name="adj" fmla="val 2772"/>
            </a:avLst>
          </a:prstGeom>
          <a:solidFill>
            <a:srgbClr val="0B2036"/>
          </a:solidFill>
          <a:ln w="12700">
            <a:solidFill>
              <a:srgbClr val="0B203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3566160" cy="6766560"/>
          </a:xfrm>
          <a:prstGeom prst="line">
            <a:avLst/>
          </a:prstGeom>
          <a:noFill/>
          <a:ln w="7620">
            <a:solidFill>
              <a:srgbClr val="254257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67512" y="667512"/>
            <a:ext cx="2971800" cy="292608"/>
          </a:xfrm>
          <a:prstGeom prst="roundRect">
            <a:avLst>
              <a:gd name="adj" fmla="val 43750"/>
            </a:avLst>
          </a:prstGeom>
          <a:solidFill>
            <a:srgbClr val="102C45"/>
          </a:solidFill>
          <a:ln w="6350">
            <a:solidFill>
              <a:srgbClr val="304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681228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9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GAUTENG G13  ·  CHALLENGE 12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68580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00" b="1" spc="-80" kern="0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SAFEGUARD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00" b="1" dirty="0">
                <a:solidFill>
                  <a:srgbClr val="32E5C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</a:t>
            </a:r>
            <a:endParaRPr lang="en-US" sz="5500" dirty="0"/>
          </a:p>
        </p:txBody>
      </p:sp>
      <p:sp>
        <p:nvSpPr>
          <p:cNvPr id="9" name="Shape 7"/>
          <p:cNvSpPr/>
          <p:nvPr/>
        </p:nvSpPr>
        <p:spPr>
          <a:xfrm>
            <a:off x="658368" y="3794760"/>
            <a:ext cx="621792" cy="64008"/>
          </a:xfrm>
          <a:prstGeom prst="rect">
            <a:avLst>
              <a:gd name="adj" fmla="val 200000"/>
            </a:avLst>
          </a:prstGeom>
          <a:solidFill>
            <a:srgbClr val="32E5C2"/>
          </a:solidFill>
          <a:ln w="12700">
            <a:solidFill>
              <a:srgbClr val="32E5C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078224"/>
            <a:ext cx="5715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reported danger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to verified protection.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67512" y="5321808"/>
            <a:ext cx="5458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safety-first platform for neglected public infrastructure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67512" y="62819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spc="1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VISUALISATION  •  OCTOBER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594360"/>
            <a:ext cx="3575304" cy="5650992"/>
          </a:xfrm>
          <a:prstGeom prst="roundRect">
            <a:avLst>
              <a:gd name="adj" fmla="val 3581"/>
            </a:avLst>
          </a:prstGeom>
          <a:solidFill>
            <a:srgbClr val="060D1A"/>
          </a:solidFill>
          <a:ln w="15240">
            <a:solidFill>
              <a:srgbClr val="3656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9248" y="758952"/>
            <a:ext cx="3264408" cy="5321808"/>
          </a:xfrm>
          <a:prstGeom prst="roundRect">
            <a:avLst>
              <a:gd name="adj" fmla="val 3922"/>
            </a:avLst>
          </a:prstGeom>
          <a:solidFill>
            <a:srgbClr val="F6FAFC"/>
          </a:solidFill>
          <a:ln w="12700">
            <a:solidFill>
              <a:srgbClr val="F6FAF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86216" y="841248"/>
            <a:ext cx="1499616" cy="182880"/>
          </a:xfrm>
          <a:prstGeom prst="roundRect">
            <a:avLst>
              <a:gd name="adj" fmla="val 70000"/>
            </a:avLst>
          </a:prstGeom>
          <a:solidFill>
            <a:srgbClr val="081A2B"/>
          </a:solidFill>
          <a:ln w="12700">
            <a:solidFill>
              <a:srgbClr val="081A2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4424" y="1170432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SafeGuard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584" y="1179576"/>
            <a:ext cx="283464" cy="28346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964424" y="16824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4760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near you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7936992" y="2075688"/>
            <a:ext cx="2807208" cy="2057400"/>
          </a:xfrm>
          <a:prstGeom prst="roundRect">
            <a:avLst>
              <a:gd name="adj" fmla="val 6222"/>
            </a:avLst>
          </a:prstGeom>
          <a:solidFill>
            <a:srgbClr val="E5EFF3"/>
          </a:solidFill>
          <a:ln w="12700">
            <a:solidFill>
              <a:srgbClr val="E5EFF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64424" y="2240280"/>
            <a:ext cx="2697480" cy="0"/>
          </a:xfrm>
          <a:prstGeom prst="line">
            <a:avLst/>
          </a:prstGeom>
          <a:noFill/>
          <a:ln w="39370">
            <a:solidFill>
              <a:srgbClr val="CEDDE4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7964424" y="2761488"/>
            <a:ext cx="2697480" cy="0"/>
          </a:xfrm>
          <a:prstGeom prst="line">
            <a:avLst/>
          </a:prstGeom>
          <a:noFill/>
          <a:ln w="39370">
            <a:solidFill>
              <a:srgbClr val="CEDDE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7964424" y="3282696"/>
            <a:ext cx="2697480" cy="0"/>
          </a:xfrm>
          <a:prstGeom prst="line">
            <a:avLst/>
          </a:prstGeom>
          <a:noFill/>
          <a:ln w="39370">
            <a:solidFill>
              <a:srgbClr val="CEDDE4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7964424" y="3803904"/>
            <a:ext cx="2697480" cy="0"/>
          </a:xfrm>
          <a:prstGeom prst="line">
            <a:avLst/>
          </a:prstGeom>
          <a:noFill/>
          <a:ln w="39370">
            <a:solidFill>
              <a:srgbClr val="CEDDE4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8065008" y="2121408"/>
            <a:ext cx="0" cy="1901952"/>
          </a:xfrm>
          <a:prstGeom prst="line">
            <a:avLst/>
          </a:prstGeom>
          <a:noFill/>
          <a:ln w="41910">
            <a:solidFill>
              <a:srgbClr val="C7D9E1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8705088" y="2121408"/>
            <a:ext cx="0" cy="1901952"/>
          </a:xfrm>
          <a:prstGeom prst="line">
            <a:avLst/>
          </a:prstGeom>
          <a:noFill/>
          <a:ln w="41910">
            <a:solidFill>
              <a:srgbClr val="C7D9E1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9345168" y="2121408"/>
            <a:ext cx="0" cy="1901952"/>
          </a:xfrm>
          <a:prstGeom prst="line">
            <a:avLst/>
          </a:prstGeom>
          <a:noFill/>
          <a:ln w="41910">
            <a:solidFill>
              <a:srgbClr val="C7D9E1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9985248" y="2121408"/>
            <a:ext cx="0" cy="1901952"/>
          </a:xfrm>
          <a:prstGeom prst="line">
            <a:avLst/>
          </a:prstGeom>
          <a:noFill/>
          <a:ln w="41910">
            <a:solidFill>
              <a:srgbClr val="C7D9E1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>
            <a:off x="7936992" y="3511296"/>
            <a:ext cx="2788920" cy="-960120"/>
          </a:xfrm>
          <a:prstGeom prst="line">
            <a:avLst/>
          </a:prstGeom>
          <a:noFill/>
          <a:ln w="127000">
            <a:solidFill>
              <a:srgbClr val="F3FAFB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8631936" y="3017520"/>
            <a:ext cx="274320" cy="274320"/>
          </a:xfrm>
          <a:prstGeom prst="ellipse">
            <a:avLst>
              <a:gd name="adj" fmla="val 46667"/>
            </a:avLst>
          </a:prstGeom>
          <a:solidFill>
            <a:srgbClr val="FF6868"/>
          </a:solidFill>
          <a:ln w="12700">
            <a:solidFill>
              <a:srgbClr val="FF6868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30691" y="3116275"/>
            <a:ext cx="75438" cy="75438"/>
          </a:xfrm>
          <a:prstGeom prst="ellipse">
            <a:avLst>
              <a:gd name="adj" fmla="val 169697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957816" y="2432304"/>
            <a:ext cx="219456" cy="219456"/>
          </a:xfrm>
          <a:prstGeom prst="ellipse">
            <a:avLst>
              <a:gd name="adj" fmla="val 58333"/>
            </a:avLst>
          </a:prstGeom>
          <a:solidFill>
            <a:srgbClr val="F3B949"/>
          </a:solidFill>
          <a:ln w="12700">
            <a:solidFill>
              <a:srgbClr val="F3B949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036820" y="2511308"/>
            <a:ext cx="60350" cy="60350"/>
          </a:xfrm>
          <a:prstGeom prst="ellipse">
            <a:avLst>
              <a:gd name="adj" fmla="val 212123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186416" y="3593592"/>
            <a:ext cx="219456" cy="219456"/>
          </a:xfrm>
          <a:prstGeom prst="ellipse">
            <a:avLst>
              <a:gd name="adj" fmla="val 58333"/>
            </a:avLst>
          </a:prstGeom>
          <a:solidFill>
            <a:srgbClr val="32E5C2"/>
          </a:solidFill>
          <a:ln w="12700">
            <a:solidFill>
              <a:srgbClr val="32E5C2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265420" y="3672596"/>
            <a:ext cx="60350" cy="60350"/>
          </a:xfrm>
          <a:prstGeom prst="ellipse">
            <a:avLst>
              <a:gd name="adj" fmla="val 212123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18704" y="4325112"/>
            <a:ext cx="2834640" cy="116128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8255">
            <a:solidFill>
              <a:srgbClr val="E1E9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83296" y="4489704"/>
            <a:ext cx="1197864" cy="256032"/>
          </a:xfrm>
          <a:prstGeom prst="roundRect">
            <a:avLst>
              <a:gd name="adj" fmla="val 50000"/>
            </a:avLst>
          </a:prstGeom>
          <a:solidFill>
            <a:srgbClr val="452936"/>
          </a:solidFill>
          <a:ln w="12700">
            <a:solidFill>
              <a:srgbClr val="452936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56448" y="4512564"/>
            <a:ext cx="1051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5" kern="0" dirty="0">
                <a:solidFill>
                  <a:srgbClr val="FF6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UNCONTAINED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083296" y="483717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083296" y="5157216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6F84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school entrance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10341864" y="4846320"/>
            <a:ext cx="246888" cy="246888"/>
          </a:xfrm>
          <a:prstGeom prst="ellipse">
            <a:avLst>
              <a:gd name="adj" fmla="val 51852"/>
            </a:avLst>
          </a:prstGeom>
          <a:solidFill>
            <a:srgbClr val="32E5C2"/>
          </a:solidFill>
          <a:ln w="12700">
            <a:solidFill>
              <a:srgbClr val="32E5C2">
                <a:alpha val="0"/>
              </a:srgbClr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9588" y="4924044"/>
            <a:ext cx="91440" cy="914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7626096" y="6364224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APP MOCKUP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WHY IT MATTERS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Some hazards are known. People remain exposed.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report can be logged long before a danger is physically contained.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6473952" cy="3904488"/>
          </a:xfrm>
          <a:prstGeom prst="roundRect">
            <a:avLst>
              <a:gd name="adj" fmla="val 3279"/>
            </a:avLst>
          </a:prstGeom>
          <a:solidFill>
            <a:srgbClr val="132C3F"/>
          </a:solidFill>
          <a:ln w="10160">
            <a:solidFill>
              <a:srgbClr val="284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331720"/>
            <a:ext cx="6108192" cy="960120"/>
          </a:xfrm>
          <a:prstGeom prst="rect">
            <a:avLst>
              <a:gd name="adj" fmla="val 13333"/>
            </a:avLst>
          </a:prstGeom>
          <a:solidFill>
            <a:srgbClr val="537487"/>
          </a:solidFill>
          <a:ln w="12700">
            <a:solidFill>
              <a:srgbClr val="53748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282696"/>
            <a:ext cx="6108192" cy="2569464"/>
          </a:xfrm>
          <a:prstGeom prst="rect">
            <a:avLst>
              <a:gd name="adj" fmla="val 4982"/>
            </a:avLst>
          </a:prstGeom>
          <a:solidFill>
            <a:srgbClr val="46596A"/>
          </a:solidFill>
          <a:ln w="12700">
            <a:solidFill>
              <a:srgbClr val="46596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4965192"/>
            <a:ext cx="621792" cy="82296"/>
          </a:xfrm>
          <a:prstGeom prst="rect">
            <a:avLst>
              <a:gd name="adj" fmla="val 155556"/>
            </a:avLst>
          </a:prstGeom>
          <a:solidFill>
            <a:srgbClr val="D5DAD8"/>
          </a:solidFill>
          <a:ln w="12700">
            <a:solidFill>
              <a:srgbClr val="D5DAD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95144" y="4965192"/>
            <a:ext cx="621792" cy="82296"/>
          </a:xfrm>
          <a:prstGeom prst="rect">
            <a:avLst>
              <a:gd name="adj" fmla="val 155556"/>
            </a:avLst>
          </a:prstGeom>
          <a:solidFill>
            <a:srgbClr val="D5DAD8"/>
          </a:solidFill>
          <a:ln w="12700">
            <a:solidFill>
              <a:srgbClr val="D5DAD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4965192"/>
            <a:ext cx="621792" cy="82296"/>
          </a:xfrm>
          <a:prstGeom prst="rect">
            <a:avLst>
              <a:gd name="adj" fmla="val 155556"/>
            </a:avLst>
          </a:prstGeom>
          <a:solidFill>
            <a:srgbClr val="D5DAD8"/>
          </a:solidFill>
          <a:ln w="12700">
            <a:solidFill>
              <a:srgbClr val="D5DAD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4965192"/>
            <a:ext cx="621792" cy="82296"/>
          </a:xfrm>
          <a:prstGeom prst="rect">
            <a:avLst>
              <a:gd name="adj" fmla="val 155556"/>
            </a:avLst>
          </a:prstGeom>
          <a:solidFill>
            <a:srgbClr val="D5DAD8"/>
          </a:solidFill>
          <a:ln w="12700">
            <a:solidFill>
              <a:srgbClr val="D5DAD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4965192"/>
            <a:ext cx="621792" cy="82296"/>
          </a:xfrm>
          <a:prstGeom prst="rect">
            <a:avLst>
              <a:gd name="adj" fmla="val 155556"/>
            </a:avLst>
          </a:prstGeom>
          <a:solidFill>
            <a:srgbClr val="D5DAD8"/>
          </a:solidFill>
          <a:ln w="12700">
            <a:solidFill>
              <a:srgbClr val="D5DA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523744"/>
            <a:ext cx="987552" cy="530352"/>
          </a:xfrm>
          <a:prstGeom prst="rect">
            <a:avLst>
              <a:gd name="adj" fmla="val 24138"/>
            </a:avLst>
          </a:prstGeom>
          <a:solidFill>
            <a:srgbClr val="304F63"/>
          </a:solidFill>
          <a:ln w="12700">
            <a:solidFill>
              <a:srgbClr val="304F6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2679192"/>
            <a:ext cx="219456" cy="228600"/>
          </a:xfrm>
          <a:prstGeom prst="rect">
            <a:avLst>
              <a:gd name="adj" fmla="val 58333"/>
            </a:avLst>
          </a:prstGeom>
          <a:solidFill>
            <a:srgbClr val="96B4C5"/>
          </a:solidFill>
          <a:ln w="12700">
            <a:solidFill>
              <a:srgbClr val="96B4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6272" y="2523744"/>
            <a:ext cx="987552" cy="530352"/>
          </a:xfrm>
          <a:prstGeom prst="rect">
            <a:avLst>
              <a:gd name="adj" fmla="val 24138"/>
            </a:avLst>
          </a:prstGeom>
          <a:solidFill>
            <a:srgbClr val="304F63"/>
          </a:solidFill>
          <a:ln w="12700">
            <a:solidFill>
              <a:srgbClr val="304F6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4288" y="2679192"/>
            <a:ext cx="219456" cy="228600"/>
          </a:xfrm>
          <a:prstGeom prst="rect">
            <a:avLst>
              <a:gd name="adj" fmla="val 58333"/>
            </a:avLst>
          </a:prstGeom>
          <a:solidFill>
            <a:srgbClr val="96B4C5"/>
          </a:solidFill>
          <a:ln w="12700">
            <a:solidFill>
              <a:srgbClr val="96B4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2523744"/>
            <a:ext cx="987552" cy="530352"/>
          </a:xfrm>
          <a:prstGeom prst="rect">
            <a:avLst>
              <a:gd name="adj" fmla="val 24138"/>
            </a:avLst>
          </a:prstGeom>
          <a:solidFill>
            <a:srgbClr val="304F63"/>
          </a:solidFill>
          <a:ln w="12700">
            <a:solidFill>
              <a:srgbClr val="304F6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679192"/>
            <a:ext cx="219456" cy="228600"/>
          </a:xfrm>
          <a:prstGeom prst="rect">
            <a:avLst>
              <a:gd name="adj" fmla="val 58333"/>
            </a:avLst>
          </a:prstGeom>
          <a:solidFill>
            <a:srgbClr val="96B4C5"/>
          </a:solidFill>
          <a:ln w="12700">
            <a:solidFill>
              <a:srgbClr val="96B4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7136" y="2523744"/>
            <a:ext cx="987552" cy="530352"/>
          </a:xfrm>
          <a:prstGeom prst="rect">
            <a:avLst>
              <a:gd name="adj" fmla="val 24138"/>
            </a:avLst>
          </a:prstGeom>
          <a:solidFill>
            <a:srgbClr val="304F63"/>
          </a:solidFill>
          <a:ln w="12700">
            <a:solidFill>
              <a:srgbClr val="304F6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2679192"/>
            <a:ext cx="219456" cy="228600"/>
          </a:xfrm>
          <a:prstGeom prst="rect">
            <a:avLst>
              <a:gd name="adj" fmla="val 58333"/>
            </a:avLst>
          </a:prstGeom>
          <a:solidFill>
            <a:srgbClr val="96B4C5"/>
          </a:solidFill>
          <a:ln w="12700">
            <a:solidFill>
              <a:srgbClr val="96B4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2523744"/>
            <a:ext cx="987552" cy="530352"/>
          </a:xfrm>
          <a:prstGeom prst="rect">
            <a:avLst>
              <a:gd name="adj" fmla="val 24138"/>
            </a:avLst>
          </a:prstGeom>
          <a:solidFill>
            <a:srgbClr val="304F63"/>
          </a:solidFill>
          <a:ln w="12700">
            <a:solidFill>
              <a:srgbClr val="304F6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15584" y="2679192"/>
            <a:ext cx="219456" cy="228600"/>
          </a:xfrm>
          <a:prstGeom prst="rect">
            <a:avLst>
              <a:gd name="adj" fmla="val 58333"/>
            </a:avLst>
          </a:prstGeom>
          <a:solidFill>
            <a:srgbClr val="96B4C5"/>
          </a:solidFill>
          <a:ln w="12700">
            <a:solidFill>
              <a:srgbClr val="96B4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3246120"/>
            <a:ext cx="5879592" cy="146304"/>
          </a:xfrm>
          <a:prstGeom prst="rect">
            <a:avLst>
              <a:gd name="adj" fmla="val 87500"/>
            </a:avLst>
          </a:prstGeom>
          <a:solidFill>
            <a:srgbClr val="BAC6C9"/>
          </a:solidFill>
          <a:ln w="12700">
            <a:solidFill>
              <a:srgbClr val="BAC6C9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39112" y="3895344"/>
            <a:ext cx="2788920" cy="1197864"/>
          </a:xfrm>
          <a:prstGeom prst="ellipse">
            <a:avLst>
              <a:gd name="adj" fmla="val 10687"/>
            </a:avLst>
          </a:prstGeom>
          <a:solidFill>
            <a:srgbClr val="122A38"/>
          </a:solidFill>
          <a:ln w="63500">
            <a:solidFill>
              <a:srgbClr val="F3B9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4288" y="4041648"/>
            <a:ext cx="2276856" cy="850392"/>
          </a:xfrm>
          <a:prstGeom prst="ellipse">
            <a:avLst>
              <a:gd name="adj" fmla="val 15054"/>
            </a:avLst>
          </a:prstGeom>
          <a:solidFill>
            <a:srgbClr val="030D14"/>
          </a:solidFill>
          <a:ln w="7620">
            <a:solidFill>
              <a:srgbClr val="2E3D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37176" y="4087368"/>
            <a:ext cx="987552" cy="758952"/>
          </a:xfrm>
          <a:prstGeom prst="ellipse">
            <a:avLst>
              <a:gd name="adj" fmla="val 16867"/>
            </a:avLst>
          </a:prstGeom>
          <a:solidFill>
            <a:srgbClr val="9AA9B2"/>
          </a:solidFill>
          <a:ln w="25400">
            <a:solidFill>
              <a:srgbClr val="D1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0328" y="4142232"/>
            <a:ext cx="786384" cy="0"/>
          </a:xfrm>
          <a:prstGeom prst="line">
            <a:avLst/>
          </a:prstGeom>
          <a:noFill/>
          <a:ln w="12700">
            <a:solidFill>
              <a:srgbClr val="607D8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4910328" y="4251960"/>
            <a:ext cx="786384" cy="0"/>
          </a:xfrm>
          <a:prstGeom prst="line">
            <a:avLst/>
          </a:prstGeom>
          <a:noFill/>
          <a:ln w="12700">
            <a:solidFill>
              <a:srgbClr val="607D8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4910328" y="4361688"/>
            <a:ext cx="786384" cy="0"/>
          </a:xfrm>
          <a:prstGeom prst="line">
            <a:avLst/>
          </a:prstGeom>
          <a:noFill/>
          <a:ln w="12700">
            <a:solidFill>
              <a:srgbClr val="607D8A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4910328" y="4471416"/>
            <a:ext cx="786384" cy="0"/>
          </a:xfrm>
          <a:prstGeom prst="line">
            <a:avLst/>
          </a:prstGeom>
          <a:noFill/>
          <a:ln w="12700">
            <a:solidFill>
              <a:srgbClr val="607D8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4910328" y="4581144"/>
            <a:ext cx="786384" cy="0"/>
          </a:xfrm>
          <a:prstGeom prst="line">
            <a:avLst/>
          </a:prstGeom>
          <a:noFill/>
          <a:ln w="12700">
            <a:solidFill>
              <a:srgbClr val="607D8A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43584" y="3685032"/>
            <a:ext cx="484632" cy="603504"/>
          </a:xfrm>
          <a:prstGeom prst="chevron">
            <a:avLst>
              <a:gd name="adj" fmla="val 26415"/>
            </a:avLst>
          </a:prstGeom>
          <a:solidFill>
            <a:srgbClr val="F3B949"/>
          </a:solidFill>
          <a:ln w="12700">
            <a:solidFill>
              <a:srgbClr val="F3B949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97864" y="4279392"/>
            <a:ext cx="621792" cy="82296"/>
          </a:xfrm>
          <a:prstGeom prst="rect">
            <a:avLst>
              <a:gd name="adj" fmla="val 155556"/>
            </a:avLst>
          </a:prstGeom>
          <a:solidFill>
            <a:srgbClr val="E6E7DD"/>
          </a:solidFill>
          <a:ln w="12700">
            <a:solidFill>
              <a:srgbClr val="E6E7D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21024" y="3502152"/>
            <a:ext cx="2423160" cy="338328"/>
          </a:xfrm>
          <a:prstGeom prst="roundRect">
            <a:avLst>
              <a:gd name="adj" fmla="val 37838"/>
            </a:avLst>
          </a:prstGeom>
          <a:solidFill>
            <a:srgbClr val="4F2D31"/>
          </a:solidFill>
          <a:ln w="12700">
            <a:solidFill>
              <a:srgbClr val="4F2D31">
                <a:alpha val="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0752" y="3584448"/>
            <a:ext cx="173736" cy="17373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3968496" y="35570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05840" y="5760720"/>
            <a:ext cx="4846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BAC9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SCENE — NOT A PHOTOGRAPH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452360" y="2139696"/>
            <a:ext cx="4114800" cy="1746504"/>
          </a:xfrm>
          <a:prstGeom prst="roundRect">
            <a:avLst>
              <a:gd name="adj" fmla="val 7330"/>
            </a:avLst>
          </a:prstGeom>
          <a:solidFill>
            <a:srgbClr val="172A3C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08392" y="23865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spc="1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RISK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708392" y="2788920"/>
            <a:ext cx="35753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Johannesburg Water warned in 2025 that missing manhole covers have contributed to deaths.</a:t>
            </a:r>
            <a:endParaRPr lang="en-US" sz="1630" dirty="0"/>
          </a:p>
        </p:txBody>
      </p:sp>
      <p:sp>
        <p:nvSpPr>
          <p:cNvPr id="41" name="Shape 38"/>
          <p:cNvSpPr/>
          <p:nvPr/>
        </p:nvSpPr>
        <p:spPr>
          <a:xfrm>
            <a:off x="7452360" y="4096512"/>
            <a:ext cx="4114800" cy="1746504"/>
          </a:xfrm>
          <a:prstGeom prst="roundRect">
            <a:avLst>
              <a:gd name="adj" fmla="val 7330"/>
            </a:avLst>
          </a:prstGeom>
          <a:solidFill>
            <a:srgbClr val="2E2637"/>
          </a:solidFill>
          <a:ln w="9525">
            <a:solidFill>
              <a:srgbClr val="75455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08392" y="4370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COST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708392" y="474573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Khutsong, a two-year-old died after falling into an open manhole in 2025.</a:t>
            </a:r>
            <a:endParaRPr lang="en-US" sz="1560" dirty="0"/>
          </a:p>
        </p:txBody>
      </p:sp>
      <p:sp>
        <p:nvSpPr>
          <p:cNvPr id="44" name="Text 41"/>
          <p:cNvSpPr/>
          <p:nvPr/>
        </p:nvSpPr>
        <p:spPr>
          <a:xfrm>
            <a:off x="694944" y="6272784"/>
            <a:ext cx="9601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Johannesburg Water (2025) [1]; eNCA (2025) [2]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46" name="Text 43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47" name="Text 44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THE OVERLOOKED FAILURE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Reported ≠ protected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dangerous period between reporting and repair is the part we want to change.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221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6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— A TYPICAL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2724912"/>
            <a:ext cx="2011680" cy="1088136"/>
          </a:xfrm>
          <a:prstGeom prst="roundRect">
            <a:avLst>
              <a:gd name="adj" fmla="val 11765"/>
            </a:avLst>
          </a:prstGeom>
          <a:solidFill>
            <a:srgbClr val="152B3E"/>
          </a:solidFill>
          <a:ln w="10160">
            <a:solidFill>
              <a:srgbClr val="3046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2980944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302666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 reported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88920" y="3264408"/>
            <a:ext cx="228600" cy="0"/>
          </a:xfrm>
          <a:prstGeom prst="line">
            <a:avLst/>
          </a:prstGeom>
          <a:noFill/>
          <a:ln w="25400">
            <a:solidFill>
              <a:srgbClr val="9BAFC2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3063240" y="2724912"/>
            <a:ext cx="2011680" cy="1088136"/>
          </a:xfrm>
          <a:prstGeom prst="roundRect">
            <a:avLst>
              <a:gd name="adj" fmla="val 11765"/>
            </a:avLst>
          </a:prstGeom>
          <a:solidFill>
            <a:srgbClr val="152B3E"/>
          </a:solidFill>
          <a:ln w="10160">
            <a:solidFill>
              <a:srgbClr val="3046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2980944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302666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logged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138928" y="3264408"/>
            <a:ext cx="228600" cy="0"/>
          </a:xfrm>
          <a:prstGeom prst="line">
            <a:avLst/>
          </a:prstGeom>
          <a:noFill/>
          <a:ln w="25400">
            <a:solidFill>
              <a:srgbClr val="9BAFC2"/>
            </a:solidFill>
            <a:prstDash val="solid"/>
            <a:headEnd type="none"/>
            <a:tailEnd type="none"/>
          </a:ln>
        </p:spPr>
      </p:sp>
      <p:sp>
        <p:nvSpPr>
          <p:cNvPr id="14" name="Shape 10"/>
          <p:cNvSpPr/>
          <p:nvPr/>
        </p:nvSpPr>
        <p:spPr>
          <a:xfrm>
            <a:off x="5623560" y="2724912"/>
            <a:ext cx="2011680" cy="1088136"/>
          </a:xfrm>
          <a:prstGeom prst="roundRect">
            <a:avLst>
              <a:gd name="adj" fmla="val 11765"/>
            </a:avLst>
          </a:prstGeom>
          <a:solidFill>
            <a:srgbClr val="152B3E"/>
          </a:solidFill>
          <a:ln w="10160">
            <a:solidFill>
              <a:srgbClr val="3046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6440" y="2980944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36792" y="302666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queue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699248" y="3264408"/>
            <a:ext cx="228600" cy="0"/>
          </a:xfrm>
          <a:prstGeom prst="line">
            <a:avLst/>
          </a:prstGeom>
          <a:noFill/>
          <a:ln w="25400">
            <a:solidFill>
              <a:srgbClr val="9BAFC2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8348472" y="2724912"/>
            <a:ext cx="2880360" cy="1088136"/>
          </a:xfrm>
          <a:prstGeom prst="roundRect">
            <a:avLst>
              <a:gd name="adj" fmla="val 11765"/>
            </a:avLst>
          </a:prstGeom>
          <a:solidFill>
            <a:srgbClr val="502C39"/>
          </a:solidFill>
          <a:ln w="10160">
            <a:solidFill>
              <a:srgbClr val="9A546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352" y="2980944"/>
            <a:ext cx="429768" cy="4297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61704" y="3026664"/>
            <a:ext cx="2075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still exposed</a:t>
            </a:r>
            <a:endParaRPr lang="en-US" sz="1360" dirty="0"/>
          </a:p>
        </p:txBody>
      </p:sp>
      <p:sp>
        <p:nvSpPr>
          <p:cNvPr id="21" name="Shape 15"/>
          <p:cNvSpPr/>
          <p:nvPr/>
        </p:nvSpPr>
        <p:spPr>
          <a:xfrm>
            <a:off x="713232" y="4114800"/>
            <a:ext cx="10771632" cy="1389888"/>
          </a:xfrm>
          <a:prstGeom prst="roundRect">
            <a:avLst>
              <a:gd name="adj" fmla="val 9211"/>
            </a:avLst>
          </a:prstGeom>
          <a:solidFill>
            <a:srgbClr val="153B3B"/>
          </a:solidFill>
          <a:ln w="12700">
            <a:solidFill>
              <a:srgbClr val="24635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552" y="4489704"/>
            <a:ext cx="676656" cy="6766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956816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CHANGE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956816" y="4764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hazard has two measurable outcomes:</a:t>
            </a:r>
            <a:endParaRPr lang="en-US" sz="1800" dirty="0"/>
          </a:p>
        </p:txBody>
      </p:sp>
      <p:sp>
        <p:nvSpPr>
          <p:cNvPr id="25" name="Text 18"/>
          <p:cNvSpPr/>
          <p:nvPr/>
        </p:nvSpPr>
        <p:spPr>
          <a:xfrm>
            <a:off x="6656832" y="4416552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Was interim protection verified?</a:t>
            </a:r>
            <a:endParaRPr lang="en-US" sz="1340" dirty="0"/>
          </a:p>
        </p:txBody>
      </p:sp>
      <p:sp>
        <p:nvSpPr>
          <p:cNvPr id="26" name="Text 19"/>
          <p:cNvSpPr/>
          <p:nvPr/>
        </p:nvSpPr>
        <p:spPr>
          <a:xfrm>
            <a:off x="6656832" y="4919472"/>
            <a:ext cx="4242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Was the permanent repair verified?</a:t>
            </a:r>
            <a:endParaRPr lang="en-US" sz="1340" dirty="0"/>
          </a:p>
        </p:txBody>
      </p:sp>
      <p:sp>
        <p:nvSpPr>
          <p:cNvPr id="27" name="Text 20"/>
          <p:cNvSpPr/>
          <p:nvPr/>
        </p:nvSpPr>
        <p:spPr>
          <a:xfrm>
            <a:off x="740664" y="5888736"/>
            <a:ext cx="10451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must NEVER treat “reported” or “assigned” as “safe”.</a:t>
            </a:r>
            <a:endParaRPr lang="en-US" sz="1520" dirty="0"/>
          </a:p>
        </p:txBody>
      </p:sp>
      <p:sp>
        <p:nvSpPr>
          <p:cNvPr id="28" name="Shape 21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29" name="Text 22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30" name="Text 23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PROBLEM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platform for dangerous public infrastructure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hazards that put pedestrians and neighbourhoods at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22037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A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450592"/>
            <a:ext cx="630936" cy="630936"/>
          </a:xfrm>
          <a:prstGeom prst="ellipse">
            <a:avLst>
              <a:gd name="adj" fmla="val 20290"/>
            </a:avLst>
          </a:prstGeom>
          <a:solidFill>
            <a:srgbClr val="EAF0F5"/>
          </a:solidFill>
          <a:ln w="12700">
            <a:solidFill>
              <a:srgbClr val="EAF0F5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61518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5973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MANHOLES</a:t>
            </a:r>
            <a:endParaRPr lang="en-US" sz="1310" dirty="0"/>
          </a:p>
        </p:txBody>
      </p:sp>
      <p:sp>
        <p:nvSpPr>
          <p:cNvPr id="9" name="Text 6"/>
          <p:cNvSpPr/>
          <p:nvPr/>
        </p:nvSpPr>
        <p:spPr>
          <a:xfrm>
            <a:off x="1655064" y="2935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Falls and drowning risks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4489704" y="22037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AE3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450592"/>
            <a:ext cx="630936" cy="630936"/>
          </a:xfrm>
          <a:prstGeom prst="ellipse">
            <a:avLst>
              <a:gd name="adj" fmla="val 20290"/>
            </a:avLst>
          </a:prstGeom>
          <a:solidFill>
            <a:srgbClr val="EAF0F5"/>
          </a:solidFill>
          <a:ln w="12700">
            <a:solidFill>
              <a:srgbClr val="EAF0F5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3752" y="261518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45973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ELECTRICITY</a:t>
            </a:r>
            <a:endParaRPr lang="en-US" sz="1310" dirty="0"/>
          </a:p>
        </p:txBody>
      </p:sp>
      <p:sp>
        <p:nvSpPr>
          <p:cNvPr id="14" name="Text 10"/>
          <p:cNvSpPr/>
          <p:nvPr/>
        </p:nvSpPr>
        <p:spPr>
          <a:xfrm>
            <a:off x="5477256" y="2935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Electrocution / fire risks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8311896" y="22037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AE3E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31352" y="2450592"/>
            <a:ext cx="630936" cy="630936"/>
          </a:xfrm>
          <a:prstGeom prst="ellipse">
            <a:avLst>
              <a:gd name="adj" fmla="val 20290"/>
            </a:avLst>
          </a:prstGeom>
          <a:solidFill>
            <a:srgbClr val="EAF0F5"/>
          </a:solidFill>
          <a:ln w="12700">
            <a:solidFill>
              <a:srgbClr val="EAF0F5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95944" y="261518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0304" y="245973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DAMAGED WALKWAYS</a:t>
            </a:r>
            <a:endParaRPr lang="en-US" sz="1310" dirty="0"/>
          </a:p>
        </p:txBody>
      </p:sp>
      <p:sp>
        <p:nvSpPr>
          <p:cNvPr id="19" name="Text 14"/>
          <p:cNvSpPr/>
          <p:nvPr/>
        </p:nvSpPr>
        <p:spPr>
          <a:xfrm>
            <a:off x="9299448" y="29352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daily journeys</a:t>
            </a:r>
            <a:endParaRPr lang="en-US" sz="1160" dirty="0"/>
          </a:p>
        </p:txBody>
      </p:sp>
      <p:sp>
        <p:nvSpPr>
          <p:cNvPr id="20" name="Shape 15"/>
          <p:cNvSpPr/>
          <p:nvPr/>
        </p:nvSpPr>
        <p:spPr>
          <a:xfrm>
            <a:off x="667512" y="40325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AE3E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968" y="4279392"/>
            <a:ext cx="630936" cy="630936"/>
          </a:xfrm>
          <a:prstGeom prst="ellipse">
            <a:avLst>
              <a:gd name="adj" fmla="val 20290"/>
            </a:avLst>
          </a:prstGeom>
          <a:solidFill>
            <a:srgbClr val="EAF0F5"/>
          </a:solidFill>
          <a:ln w="12700">
            <a:solidFill>
              <a:srgbClr val="EAF0F5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444398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28853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SEWAGE &amp; SANITATION</a:t>
            </a:r>
            <a:endParaRPr lang="en-US" sz="1310" dirty="0"/>
          </a:p>
        </p:txBody>
      </p:sp>
      <p:sp>
        <p:nvSpPr>
          <p:cNvPr id="24" name="Text 18"/>
          <p:cNvSpPr/>
          <p:nvPr/>
        </p:nvSpPr>
        <p:spPr>
          <a:xfrm>
            <a:off x="1655064" y="47640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Unsafe exposure and hygiene</a:t>
            </a:r>
            <a:endParaRPr lang="en-US" sz="1160" dirty="0"/>
          </a:p>
        </p:txBody>
      </p:sp>
      <p:sp>
        <p:nvSpPr>
          <p:cNvPr id="25" name="Shape 19"/>
          <p:cNvSpPr/>
          <p:nvPr/>
        </p:nvSpPr>
        <p:spPr>
          <a:xfrm>
            <a:off x="4489704" y="40325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9525">
            <a:solidFill>
              <a:srgbClr val="DAE3E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09160" y="4279392"/>
            <a:ext cx="630936" cy="630936"/>
          </a:xfrm>
          <a:prstGeom prst="ellipse">
            <a:avLst>
              <a:gd name="adj" fmla="val 20290"/>
            </a:avLst>
          </a:prstGeom>
          <a:solidFill>
            <a:srgbClr val="EAF0F5"/>
          </a:solidFill>
          <a:ln w="12700">
            <a:solidFill>
              <a:srgbClr val="EAF0F5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3752" y="444398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68112" y="428853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UNSTABLE STRUCTURES</a:t>
            </a:r>
            <a:endParaRPr lang="en-US" sz="1310" dirty="0"/>
          </a:p>
        </p:txBody>
      </p:sp>
      <p:sp>
        <p:nvSpPr>
          <p:cNvPr id="29" name="Text 22"/>
          <p:cNvSpPr/>
          <p:nvPr/>
        </p:nvSpPr>
        <p:spPr>
          <a:xfrm>
            <a:off x="5477256" y="476402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Collapse and injury hazards</a:t>
            </a:r>
            <a:endParaRPr lang="en-US" sz="1160" dirty="0"/>
          </a:p>
        </p:txBody>
      </p:sp>
      <p:sp>
        <p:nvSpPr>
          <p:cNvPr id="30" name="Shape 23"/>
          <p:cNvSpPr/>
          <p:nvPr/>
        </p:nvSpPr>
        <p:spPr>
          <a:xfrm>
            <a:off x="8311896" y="4032504"/>
            <a:ext cx="3557016" cy="1572768"/>
          </a:xfrm>
          <a:prstGeom prst="roundRect">
            <a:avLst>
              <a:gd name="adj" fmla="val 8140"/>
            </a:avLst>
          </a:prstGeom>
          <a:solidFill>
            <a:srgbClr val="0E3042"/>
          </a:solidFill>
          <a:ln w="12700">
            <a:solidFill>
              <a:srgbClr val="0E3042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49640" y="4489704"/>
            <a:ext cx="530352" cy="5303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0304" y="425196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FOR THE DEMO</a:t>
            </a:r>
            <a:endParaRPr lang="en-US" sz="1120" dirty="0"/>
          </a:p>
        </p:txBody>
      </p:sp>
      <p:sp>
        <p:nvSpPr>
          <p:cNvPr id="33" name="Text 25"/>
          <p:cNvSpPr/>
          <p:nvPr/>
        </p:nvSpPr>
        <p:spPr>
          <a:xfrm>
            <a:off x="9290304" y="460857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open-manhole case near a school.</a:t>
            </a:r>
            <a:endParaRPr lang="en-US" sz="1410" dirty="0"/>
          </a:p>
        </p:txBody>
      </p:sp>
      <p:sp>
        <p:nvSpPr>
          <p:cNvPr id="34" name="Text 26"/>
          <p:cNvSpPr/>
          <p:nvPr/>
        </p:nvSpPr>
        <p:spPr>
          <a:xfrm>
            <a:off x="722376" y="61264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not building five separate apps. These hazards share one safety-response workflow.</a:t>
            </a:r>
            <a:endParaRPr lang="en-US" sz="1260" dirty="0"/>
          </a:p>
        </p:txBody>
      </p:sp>
      <p:sp>
        <p:nvSpPr>
          <p:cNvPr id="35" name="Shape 27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36" name="Text 28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SafeGuard SA changes the response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incident travels from report to qualified safety clearance.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139696" cy="1901952"/>
          </a:xfrm>
          <a:prstGeom prst="roundRect">
            <a:avLst>
              <a:gd name="adj" fmla="val 6731"/>
            </a:avLst>
          </a:prstGeom>
          <a:solidFill>
            <a:srgbClr val="142B40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3896" y="2606040"/>
            <a:ext cx="630936" cy="630936"/>
          </a:xfrm>
          <a:prstGeom prst="ellipse">
            <a:avLst>
              <a:gd name="adj" fmla="val 20290"/>
            </a:avLst>
          </a:prstGeom>
          <a:solidFill>
            <a:srgbClr val="244050"/>
          </a:solidFill>
          <a:ln w="12700">
            <a:solidFill>
              <a:srgbClr val="244050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6776" y="279806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10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410" dirty="0"/>
          </a:p>
        </p:txBody>
      </p:sp>
      <p:sp>
        <p:nvSpPr>
          <p:cNvPr id="9" name="Text 6"/>
          <p:cNvSpPr/>
          <p:nvPr/>
        </p:nvSpPr>
        <p:spPr>
          <a:xfrm>
            <a:off x="795528" y="3803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 / worker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843784" y="3246120"/>
            <a:ext cx="146304" cy="0"/>
          </a:xfrm>
          <a:prstGeom prst="line">
            <a:avLst/>
          </a:prstGeom>
          <a:noFill/>
          <a:ln w="25400">
            <a:solidFill>
              <a:srgbClr val="32E5C2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3008376" y="2331720"/>
            <a:ext cx="2139696" cy="1901952"/>
          </a:xfrm>
          <a:prstGeom prst="roundRect">
            <a:avLst>
              <a:gd name="adj" fmla="val 6731"/>
            </a:avLst>
          </a:prstGeom>
          <a:solidFill>
            <a:srgbClr val="142B40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76472" y="2606040"/>
            <a:ext cx="630936" cy="630936"/>
          </a:xfrm>
          <a:prstGeom prst="ellipse">
            <a:avLst>
              <a:gd name="adj" fmla="val 20290"/>
            </a:avLst>
          </a:prstGeom>
          <a:solidFill>
            <a:srgbClr val="244050"/>
          </a:solidFill>
          <a:ln w="12700">
            <a:solidFill>
              <a:srgbClr val="244050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9352" y="2798064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91256" y="3410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</a:t>
            </a:r>
            <a:endParaRPr lang="en-US" sz="1410" dirty="0"/>
          </a:p>
        </p:txBody>
      </p:sp>
      <p:sp>
        <p:nvSpPr>
          <p:cNvPr id="15" name="Text 11"/>
          <p:cNvSpPr/>
          <p:nvPr/>
        </p:nvSpPr>
        <p:spPr>
          <a:xfrm>
            <a:off x="3118104" y="3803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Authorised official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166360" y="3246120"/>
            <a:ext cx="146304" cy="0"/>
          </a:xfrm>
          <a:prstGeom prst="line">
            <a:avLst/>
          </a:prstGeom>
          <a:noFill/>
          <a:ln w="25400">
            <a:solidFill>
              <a:srgbClr val="32E5C2"/>
            </a:solidFill>
            <a:prstDash val="solid"/>
            <a:headEnd type="none"/>
            <a:tailEnd type="none"/>
          </a:ln>
        </p:spPr>
      </p:sp>
      <p:sp>
        <p:nvSpPr>
          <p:cNvPr id="17" name="Shape 13"/>
          <p:cNvSpPr/>
          <p:nvPr/>
        </p:nvSpPr>
        <p:spPr>
          <a:xfrm>
            <a:off x="5330952" y="2331720"/>
            <a:ext cx="2139696" cy="1901952"/>
          </a:xfrm>
          <a:prstGeom prst="roundRect">
            <a:avLst>
              <a:gd name="adj" fmla="val 6731"/>
            </a:avLst>
          </a:prstGeom>
          <a:solidFill>
            <a:srgbClr val="142B40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99048" y="2606040"/>
            <a:ext cx="630936" cy="630936"/>
          </a:xfrm>
          <a:prstGeom prst="ellipse">
            <a:avLst>
              <a:gd name="adj" fmla="val 20290"/>
            </a:avLst>
          </a:prstGeom>
          <a:solidFill>
            <a:srgbClr val="294B44"/>
          </a:solidFill>
          <a:ln w="12700">
            <a:solidFill>
              <a:srgbClr val="294B44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1928" y="2798064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13832" y="3410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</a:t>
            </a:r>
            <a:endParaRPr lang="en-US" sz="1410" dirty="0"/>
          </a:p>
        </p:txBody>
      </p:sp>
      <p:sp>
        <p:nvSpPr>
          <p:cNvPr id="21" name="Text 16"/>
          <p:cNvSpPr/>
          <p:nvPr/>
        </p:nvSpPr>
        <p:spPr>
          <a:xfrm>
            <a:off x="5440680" y="3803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field team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488936" y="3246120"/>
            <a:ext cx="146304" cy="0"/>
          </a:xfrm>
          <a:prstGeom prst="line">
            <a:avLst/>
          </a:prstGeom>
          <a:noFill/>
          <a:ln w="25400">
            <a:solidFill>
              <a:srgbClr val="32E5C2"/>
            </a:solidFill>
            <a:prstDash val="solid"/>
            <a:headEnd type="none"/>
            <a:tailEnd type="none"/>
          </a:ln>
        </p:spPr>
      </p:sp>
      <p:sp>
        <p:nvSpPr>
          <p:cNvPr id="23" name="Shape 18"/>
          <p:cNvSpPr/>
          <p:nvPr/>
        </p:nvSpPr>
        <p:spPr>
          <a:xfrm>
            <a:off x="7653528" y="2331720"/>
            <a:ext cx="2139696" cy="1901952"/>
          </a:xfrm>
          <a:prstGeom prst="roundRect">
            <a:avLst>
              <a:gd name="adj" fmla="val 6731"/>
            </a:avLst>
          </a:prstGeom>
          <a:solidFill>
            <a:srgbClr val="142B40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21624" y="2606040"/>
            <a:ext cx="630936" cy="630936"/>
          </a:xfrm>
          <a:prstGeom prst="ellipse">
            <a:avLst>
              <a:gd name="adj" fmla="val 20290"/>
            </a:avLst>
          </a:prstGeom>
          <a:solidFill>
            <a:srgbClr val="244050"/>
          </a:solidFill>
          <a:ln w="12700">
            <a:solidFill>
              <a:srgbClr val="244050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4504" y="2798064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36408" y="3410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</a:t>
            </a:r>
            <a:endParaRPr lang="en-US" sz="1410" dirty="0"/>
          </a:p>
        </p:txBody>
      </p:sp>
      <p:sp>
        <p:nvSpPr>
          <p:cNvPr id="27" name="Text 21"/>
          <p:cNvSpPr/>
          <p:nvPr/>
        </p:nvSpPr>
        <p:spPr>
          <a:xfrm>
            <a:off x="7763256" y="3803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team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811512" y="3246120"/>
            <a:ext cx="146304" cy="0"/>
          </a:xfrm>
          <a:prstGeom prst="line">
            <a:avLst/>
          </a:prstGeom>
          <a:noFill/>
          <a:ln w="25400">
            <a:solidFill>
              <a:srgbClr val="32E5C2"/>
            </a:solidFill>
            <a:prstDash val="solid"/>
            <a:headEnd type="none"/>
            <a:tailEnd type="none"/>
          </a:ln>
        </p:spPr>
      </p:sp>
      <p:sp>
        <p:nvSpPr>
          <p:cNvPr id="29" name="Shape 23"/>
          <p:cNvSpPr/>
          <p:nvPr/>
        </p:nvSpPr>
        <p:spPr>
          <a:xfrm>
            <a:off x="9976104" y="2331720"/>
            <a:ext cx="2139696" cy="1901952"/>
          </a:xfrm>
          <a:prstGeom prst="roundRect">
            <a:avLst>
              <a:gd name="adj" fmla="val 6731"/>
            </a:avLst>
          </a:prstGeom>
          <a:solidFill>
            <a:srgbClr val="142B40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744200" y="2606040"/>
            <a:ext cx="630936" cy="630936"/>
          </a:xfrm>
          <a:prstGeom prst="ellipse">
            <a:avLst>
              <a:gd name="adj" fmla="val 20290"/>
            </a:avLst>
          </a:prstGeom>
          <a:solidFill>
            <a:srgbClr val="244050"/>
          </a:solidFill>
          <a:ln w="12700">
            <a:solidFill>
              <a:srgbClr val="244050">
                <a:alpha val="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27080" y="2798064"/>
            <a:ext cx="265176" cy="2651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158984" y="3410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</a:t>
            </a:r>
            <a:endParaRPr lang="en-US" sz="1410" dirty="0"/>
          </a:p>
        </p:txBody>
      </p:sp>
      <p:sp>
        <p:nvSpPr>
          <p:cNvPr id="33" name="Text 26"/>
          <p:cNvSpPr/>
          <p:nvPr/>
        </p:nvSpPr>
        <p:spPr>
          <a:xfrm>
            <a:off x="10085832" y="380390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inspector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04088" y="4599432"/>
            <a:ext cx="10771632" cy="1005840"/>
          </a:xfrm>
          <a:prstGeom prst="roundRect">
            <a:avLst>
              <a:gd name="adj" fmla="val 12727"/>
            </a:avLst>
          </a:prstGeom>
          <a:solidFill>
            <a:srgbClr val="103B38"/>
          </a:solidFill>
          <a:ln w="12700">
            <a:solidFill>
              <a:srgbClr val="298B7D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4910328"/>
            <a:ext cx="338328" cy="33832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490472" y="4882896"/>
            <a:ext cx="9400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“Protected” requires evidence and approval. “Resolved” requires an independently verified repair.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38" name="Text 30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39" name="Text 31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WHO USES 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Four roles. One shared safety record.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permissions prevent the wrong person from declaring a hazard safe.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" y="2212848"/>
            <a:ext cx="560527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478024"/>
            <a:ext cx="795528" cy="795528"/>
          </a:xfrm>
          <a:prstGeom prst="ellipse">
            <a:avLst>
              <a:gd name="adj" fmla="val 16092"/>
            </a:avLst>
          </a:prstGeom>
          <a:solidFill>
            <a:srgbClr val="E4F5EF"/>
          </a:solidFill>
          <a:ln w="12700">
            <a:solidFill>
              <a:srgbClr val="E4F5EF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7864" y="2715768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9384" y="2404872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1929384" y="280720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2386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safely • follow public status</a:t>
            </a:r>
            <a:endParaRPr lang="en-US" sz="1210" dirty="0"/>
          </a:p>
        </p:txBody>
      </p:sp>
      <p:sp>
        <p:nvSpPr>
          <p:cNvPr id="10" name="Text 7"/>
          <p:cNvSpPr/>
          <p:nvPr/>
        </p:nvSpPr>
        <p:spPr>
          <a:xfrm>
            <a:off x="1929384" y="323697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from a distance and receives verified updates.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6547104" y="2212848"/>
            <a:ext cx="560527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93992" y="2478024"/>
            <a:ext cx="795528" cy="795528"/>
          </a:xfrm>
          <a:prstGeom prst="ellipse">
            <a:avLst>
              <a:gd name="adj" fmla="val 16092"/>
            </a:avLst>
          </a:prstGeom>
          <a:solidFill>
            <a:srgbClr val="E4F5EF"/>
          </a:solidFill>
          <a:ln w="12700">
            <a:solidFill>
              <a:srgbClr val="E4F5E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0880" y="2715768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2404872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MUNICIPAL OFFICIAL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7772400" y="280720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2386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• route • prioritise</a:t>
            </a:r>
            <a:endParaRPr lang="en-US" sz="1210" dirty="0"/>
          </a:p>
        </p:txBody>
      </p:sp>
      <p:sp>
        <p:nvSpPr>
          <p:cNvPr id="16" name="Text 12"/>
          <p:cNvSpPr/>
          <p:nvPr/>
        </p:nvSpPr>
        <p:spPr>
          <a:xfrm>
            <a:off x="7772400" y="323697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reports, assigns responsibility, monitors overdue work.</a:t>
            </a:r>
            <a:endParaRPr lang="en-US" sz="1040" dirty="0"/>
          </a:p>
        </p:txBody>
      </p:sp>
      <p:sp>
        <p:nvSpPr>
          <p:cNvPr id="17" name="Shape 13"/>
          <p:cNvSpPr/>
          <p:nvPr/>
        </p:nvSpPr>
        <p:spPr>
          <a:xfrm>
            <a:off x="704088" y="4041648"/>
            <a:ext cx="560527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0976" y="4306824"/>
            <a:ext cx="795528" cy="795528"/>
          </a:xfrm>
          <a:prstGeom prst="ellipse">
            <a:avLst>
              <a:gd name="adj" fmla="val 16092"/>
            </a:avLst>
          </a:prstGeom>
          <a:solidFill>
            <a:srgbClr val="E4F5EF"/>
          </a:solidFill>
          <a:ln w="12700">
            <a:solidFill>
              <a:srgbClr val="E4F5E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7864" y="4544568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9384" y="4233672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TEAM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1929384" y="463600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2386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• repair • document</a:t>
            </a:r>
            <a:endParaRPr lang="en-US" sz="1210" dirty="0"/>
          </a:p>
        </p:txBody>
      </p:sp>
      <p:sp>
        <p:nvSpPr>
          <p:cNvPr id="22" name="Text 17"/>
          <p:cNvSpPr/>
          <p:nvPr/>
        </p:nvSpPr>
        <p:spPr>
          <a:xfrm>
            <a:off x="1929384" y="506577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barrier installation, isolation and completed work.</a:t>
            </a:r>
            <a:endParaRPr lang="en-US" sz="1040" dirty="0"/>
          </a:p>
        </p:txBody>
      </p:sp>
      <p:sp>
        <p:nvSpPr>
          <p:cNvPr id="23" name="Shape 18"/>
          <p:cNvSpPr/>
          <p:nvPr/>
        </p:nvSpPr>
        <p:spPr>
          <a:xfrm>
            <a:off x="6547104" y="4041648"/>
            <a:ext cx="560527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93992" y="4306824"/>
            <a:ext cx="795528" cy="795528"/>
          </a:xfrm>
          <a:prstGeom prst="ellipse">
            <a:avLst>
              <a:gd name="adj" fmla="val 16092"/>
            </a:avLst>
          </a:prstGeom>
          <a:solidFill>
            <a:srgbClr val="E4F5EF"/>
          </a:solidFill>
          <a:ln w="12700">
            <a:solidFill>
              <a:srgbClr val="E4F5E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0" y="4544568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0" y="4233672"/>
            <a:ext cx="40325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INSPECTOR</a:t>
            </a:r>
            <a:endParaRPr lang="en-US" sz="1440" dirty="0"/>
          </a:p>
        </p:txBody>
      </p:sp>
      <p:sp>
        <p:nvSpPr>
          <p:cNvPr id="27" name="Text 21"/>
          <p:cNvSpPr/>
          <p:nvPr/>
        </p:nvSpPr>
        <p:spPr>
          <a:xfrm>
            <a:off x="7772400" y="463600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2386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• approve • close</a:t>
            </a:r>
            <a:endParaRPr lang="en-US" sz="1210" dirty="0"/>
          </a:p>
        </p:txBody>
      </p:sp>
      <p:sp>
        <p:nvSpPr>
          <p:cNvPr id="28" name="Text 22"/>
          <p:cNvSpPr/>
          <p:nvPr/>
        </p:nvSpPr>
        <p:spPr>
          <a:xfrm>
            <a:off x="7772400" y="5065776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 protective actions and permanent repair outcomes.</a:t>
            </a:r>
            <a:endParaRPr lang="en-US" sz="1040" dirty="0"/>
          </a:p>
        </p:txBody>
      </p:sp>
      <p:sp>
        <p:nvSpPr>
          <p:cNvPr id="29" name="Text 23"/>
          <p:cNvSpPr/>
          <p:nvPr/>
        </p:nvSpPr>
        <p:spPr>
          <a:xfrm>
            <a:off x="740664" y="6080760"/>
            <a:ext cx="1089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municipal partnership is assumed. These are proposed roles for a pilot or demonstration.</a:t>
            </a:r>
            <a:endParaRPr lang="en-US" sz="1170" dirty="0"/>
          </a:p>
        </p:txBody>
      </p:sp>
      <p:sp>
        <p:nvSpPr>
          <p:cNvPr id="30" name="Shape 24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31" name="Text 25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THE EXPERIENCE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Residents can report without approaching danger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Mobile-first, simple, low-data and clear about emergency limitations.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05256" y="2011680"/>
            <a:ext cx="3236976" cy="4343400"/>
          </a:xfrm>
          <a:prstGeom prst="roundRect">
            <a:avLst>
              <a:gd name="adj" fmla="val 3955"/>
            </a:avLst>
          </a:prstGeom>
          <a:solidFill>
            <a:srgbClr val="040F1D"/>
          </a:solidFill>
          <a:ln w="12700">
            <a:solidFill>
              <a:srgbClr val="4870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121408"/>
            <a:ext cx="2980944" cy="4123944"/>
          </a:xfrm>
          <a:prstGeom prst="roundRect">
            <a:avLst>
              <a:gd name="adj" fmla="val 4294"/>
            </a:avLst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9384" y="2167128"/>
            <a:ext cx="1188720" cy="146304"/>
          </a:xfrm>
          <a:prstGeom prst="roundRect">
            <a:avLst>
              <a:gd name="adj" fmla="val 87500"/>
            </a:avLst>
          </a:prstGeom>
          <a:solidFill>
            <a:srgbClr val="071628"/>
          </a:solidFill>
          <a:ln w="12700">
            <a:solidFill>
              <a:srgbClr val="071628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5296" y="2523744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459736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a hazard</a:t>
            </a:r>
            <a:endParaRPr lang="en-US" sz="1410" dirty="0"/>
          </a:p>
        </p:txBody>
      </p:sp>
      <p:sp>
        <p:nvSpPr>
          <p:cNvPr id="10" name="Text 7"/>
          <p:cNvSpPr/>
          <p:nvPr/>
        </p:nvSpPr>
        <p:spPr>
          <a:xfrm>
            <a:off x="1252728" y="2862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dangerous?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1234440" y="3154680"/>
            <a:ext cx="2560320" cy="457200"/>
          </a:xfrm>
          <a:prstGeom prst="roundRect">
            <a:avLst>
              <a:gd name="adj" fmla="val 28000"/>
            </a:avLst>
          </a:prstGeom>
          <a:solidFill>
            <a:srgbClr val="E8F0F5"/>
          </a:solidFill>
          <a:ln w="7620">
            <a:solidFill>
              <a:srgbClr val="C4D4D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9888" y="3310128"/>
            <a:ext cx="155448" cy="155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82496" y="328269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</a:t>
            </a:r>
            <a:endParaRPr lang="en-US" sz="1070" dirty="0"/>
          </a:p>
        </p:txBody>
      </p:sp>
      <p:sp>
        <p:nvSpPr>
          <p:cNvPr id="14" name="Text 10"/>
          <p:cNvSpPr/>
          <p:nvPr/>
        </p:nvSpPr>
        <p:spPr>
          <a:xfrm>
            <a:off x="1252728" y="3694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is it?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1234440" y="3986784"/>
            <a:ext cx="2560320" cy="457200"/>
          </a:xfrm>
          <a:prstGeom prst="roundRect">
            <a:avLst>
              <a:gd name="adj" fmla="val 28000"/>
            </a:avLst>
          </a:prstGeom>
          <a:solidFill>
            <a:srgbClr val="E8F0F5"/>
          </a:solidFill>
          <a:ln w="7620">
            <a:solidFill>
              <a:srgbClr val="C4D4D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9032" y="4123944"/>
            <a:ext cx="155448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0784" y="410565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school entrance</a:t>
            </a:r>
            <a:endParaRPr lang="en-US" sz="1010" dirty="0"/>
          </a:p>
        </p:txBody>
      </p:sp>
      <p:sp>
        <p:nvSpPr>
          <p:cNvPr id="18" name="Text 13"/>
          <p:cNvSpPr/>
          <p:nvPr/>
        </p:nvSpPr>
        <p:spPr>
          <a:xfrm>
            <a:off x="1252728" y="4544568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photo (from a safe place)</a:t>
            </a:r>
            <a:endParaRPr lang="en-US" sz="990" dirty="0"/>
          </a:p>
        </p:txBody>
      </p:sp>
      <p:sp>
        <p:nvSpPr>
          <p:cNvPr id="19" name="Shape 14"/>
          <p:cNvSpPr/>
          <p:nvPr/>
        </p:nvSpPr>
        <p:spPr>
          <a:xfrm>
            <a:off x="1234440" y="4809744"/>
            <a:ext cx="2560320" cy="603504"/>
          </a:xfrm>
          <a:prstGeom prst="roundRect">
            <a:avLst>
              <a:gd name="adj" fmla="val 21212"/>
            </a:avLst>
          </a:prstGeom>
          <a:solidFill>
            <a:srgbClr val="EEF4F8"/>
          </a:solidFill>
          <a:ln w="8890">
            <a:solidFill>
              <a:srgbClr val="B7CAD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4288" y="501091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234440" y="5614416"/>
            <a:ext cx="2560320" cy="411480"/>
          </a:xfrm>
          <a:prstGeom prst="roundRect">
            <a:avLst>
              <a:gd name="adj" fmla="val 31111"/>
            </a:avLst>
          </a:prstGeom>
          <a:solidFill>
            <a:srgbClr val="0D796E"/>
          </a:solidFill>
          <a:ln w="12700">
            <a:solidFill>
              <a:srgbClr val="0D796E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453896" y="57241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for review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17720" y="2176272"/>
            <a:ext cx="6565392" cy="1024128"/>
          </a:xfrm>
          <a:prstGeom prst="roundRect">
            <a:avLst>
              <a:gd name="adj" fmla="val 12500"/>
            </a:avLst>
          </a:prstGeom>
          <a:solidFill>
            <a:srgbClr val="152F43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873752" y="2414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5513832" y="2331720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report</a:t>
            </a:r>
            <a:endParaRPr lang="en-US" sz="1540" dirty="0"/>
          </a:p>
        </p:txBody>
      </p:sp>
      <p:sp>
        <p:nvSpPr>
          <p:cNvPr id="26" name="Text 20"/>
          <p:cNvSpPr/>
          <p:nvPr/>
        </p:nvSpPr>
        <p:spPr>
          <a:xfrm>
            <a:off x="5513832" y="267004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general location and optional photo.</a:t>
            </a:r>
            <a:endParaRPr lang="en-US" sz="1170" dirty="0"/>
          </a:p>
        </p:txBody>
      </p:sp>
      <p:sp>
        <p:nvSpPr>
          <p:cNvPr id="27" name="Shape 21"/>
          <p:cNvSpPr/>
          <p:nvPr/>
        </p:nvSpPr>
        <p:spPr>
          <a:xfrm>
            <a:off x="4617720" y="3483864"/>
            <a:ext cx="6565392" cy="1024128"/>
          </a:xfrm>
          <a:prstGeom prst="roundRect">
            <a:avLst>
              <a:gd name="adj" fmla="val 12500"/>
            </a:avLst>
          </a:prstGeom>
          <a:solidFill>
            <a:srgbClr val="152F43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73752" y="37216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513832" y="3639312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behaviour</a:t>
            </a:r>
            <a:endParaRPr lang="en-US" sz="1540" dirty="0"/>
          </a:p>
        </p:txBody>
      </p:sp>
      <p:sp>
        <p:nvSpPr>
          <p:cNvPr id="30" name="Text 24"/>
          <p:cNvSpPr/>
          <p:nvPr/>
        </p:nvSpPr>
        <p:spPr>
          <a:xfrm>
            <a:off x="5513832" y="3977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requests to approach electricity, unstable sites or holes.</a:t>
            </a:r>
            <a:endParaRPr lang="en-US" sz="1170" dirty="0"/>
          </a:p>
        </p:txBody>
      </p:sp>
      <p:sp>
        <p:nvSpPr>
          <p:cNvPr id="31" name="Shape 25"/>
          <p:cNvSpPr/>
          <p:nvPr/>
        </p:nvSpPr>
        <p:spPr>
          <a:xfrm>
            <a:off x="4617720" y="4791456"/>
            <a:ext cx="6565392" cy="1024128"/>
          </a:xfrm>
          <a:prstGeom prst="roundRect">
            <a:avLst>
              <a:gd name="adj" fmla="val 12500"/>
            </a:avLst>
          </a:prstGeom>
          <a:solidFill>
            <a:srgbClr val="152F43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73752" y="5029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5513832" y="4946904"/>
            <a:ext cx="5257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expectations</a:t>
            </a:r>
            <a:endParaRPr lang="en-US" sz="1540" dirty="0"/>
          </a:p>
        </p:txBody>
      </p:sp>
      <p:sp>
        <p:nvSpPr>
          <p:cNvPr id="34" name="Text 28"/>
          <p:cNvSpPr/>
          <p:nvPr/>
        </p:nvSpPr>
        <p:spPr>
          <a:xfrm>
            <a:off x="5513832" y="528523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is not an emergency dispatch or a repair guarantee.</a:t>
            </a:r>
            <a:endParaRPr lang="en-US" sz="1170" dirty="0"/>
          </a:p>
        </p:txBody>
      </p:sp>
      <p:sp>
        <p:nvSpPr>
          <p:cNvPr id="35" name="Text 29"/>
          <p:cNvSpPr/>
          <p:nvPr/>
        </p:nvSpPr>
        <p:spPr>
          <a:xfrm>
            <a:off x="5513832" y="6300216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spc="100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UI — DEMO DATA ONLY</a:t>
            </a:r>
            <a:endParaRPr lang="en-US" sz="840" dirty="0"/>
          </a:p>
        </p:txBody>
      </p:sp>
      <p:sp>
        <p:nvSpPr>
          <p:cNvPr id="36" name="Shape 30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37" name="Text 31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38" name="Text 32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PUBLIC VISIBILITY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resident sees what is verified — and what is not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status and operational action use the same case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0664" y="2139696"/>
            <a:ext cx="4480560" cy="3566160"/>
          </a:xfrm>
          <a:prstGeom prst="roundRect">
            <a:avLst>
              <a:gd name="adj" fmla="val 3590"/>
            </a:avLst>
          </a:prstGeom>
          <a:solidFill>
            <a:srgbClr val="F8FBFC"/>
          </a:solidFill>
          <a:ln w="9525">
            <a:solidFill>
              <a:srgbClr val="D0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4597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safety report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3272" y="28529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82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#SG-1042 • DEMO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1024128" y="3227832"/>
            <a:ext cx="3867912" cy="0"/>
          </a:xfrm>
          <a:prstGeom prst="line">
            <a:avLst/>
          </a:prstGeom>
          <a:noFill/>
          <a:ln w="10160">
            <a:solidFill>
              <a:srgbClr val="D7E2E7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33272" y="34747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 near school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1033272" y="3986784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452936"/>
          </a:solidFill>
          <a:ln w="12700">
            <a:solidFill>
              <a:srgbClr val="45293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4009644"/>
            <a:ext cx="18836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25" kern="0" dirty="0">
                <a:solidFill>
                  <a:srgbClr val="FF6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 UNCONTAINED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42416" y="4443984"/>
            <a:ext cx="3739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verified protective barrier yet.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42416" y="5129784"/>
            <a:ext cx="3794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A82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checked: demonstration timestamp</a:t>
            </a:r>
            <a:endParaRPr lang="en-US" sz="103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0288" y="3959352"/>
            <a:ext cx="338328" cy="33832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367528" y="3831336"/>
            <a:ext cx="758952" cy="0"/>
          </a:xfrm>
          <a:prstGeom prst="line">
            <a:avLst/>
          </a:prstGeom>
          <a:noFill/>
          <a:ln w="25400">
            <a:solidFill>
              <a:srgbClr val="32E5C2"/>
            </a:solidFill>
            <a:prstDash val="solid"/>
            <a:headEnd type="none"/>
            <a:tailEnd type="none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5624" y="3721608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583680" y="2139696"/>
            <a:ext cx="4892040" cy="3566160"/>
          </a:xfrm>
          <a:prstGeom prst="roundRect">
            <a:avLst>
              <a:gd name="adj" fmla="val 3590"/>
            </a:avLst>
          </a:prstGeom>
          <a:solidFill>
            <a:srgbClr val="182F43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94576" y="2459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8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case view</a:t>
            </a:r>
            <a:endParaRPr lang="en-US" sz="1880" dirty="0"/>
          </a:p>
        </p:txBody>
      </p:sp>
      <p:sp>
        <p:nvSpPr>
          <p:cNvPr id="19" name="Text 15"/>
          <p:cNvSpPr/>
          <p:nvPr/>
        </p:nvSpPr>
        <p:spPr>
          <a:xfrm>
            <a:off x="6912864" y="2916936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SG-1042  /  UNDER REVIEW</a:t>
            </a:r>
            <a:endParaRPr lang="en-US" sz="1010" dirty="0"/>
          </a:p>
        </p:txBody>
      </p:sp>
      <p:sp>
        <p:nvSpPr>
          <p:cNvPr id="20" name="Shape 16"/>
          <p:cNvSpPr/>
          <p:nvPr/>
        </p:nvSpPr>
        <p:spPr>
          <a:xfrm>
            <a:off x="6903720" y="3273552"/>
            <a:ext cx="4270248" cy="0"/>
          </a:xfrm>
          <a:prstGeom prst="line">
            <a:avLst/>
          </a:prstGeom>
          <a:noFill/>
          <a:ln w="10160">
            <a:solidFill>
              <a:srgbClr val="406079"/>
            </a:solidFill>
            <a:prstDash val="solid"/>
            <a:headEnd type="none"/>
            <a:tailEnd type="none"/>
          </a:ln>
        </p:spPr>
      </p:sp>
      <p:sp>
        <p:nvSpPr>
          <p:cNvPr id="21" name="Text 17"/>
          <p:cNvSpPr/>
          <p:nvPr/>
        </p:nvSpPr>
        <p:spPr>
          <a:xfrm>
            <a:off x="6912864" y="34838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A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Reporter claim</a:t>
            </a:r>
            <a:endParaRPr lang="en-US" sz="1130" dirty="0"/>
          </a:p>
        </p:txBody>
      </p:sp>
      <p:sp>
        <p:nvSpPr>
          <p:cNvPr id="22" name="Text 18"/>
          <p:cNvSpPr/>
          <p:nvPr/>
        </p:nvSpPr>
        <p:spPr>
          <a:xfrm>
            <a:off x="8897112" y="3483864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Visible, unverified</a:t>
            </a:r>
            <a:endParaRPr lang="en-US" sz="1130" dirty="0"/>
          </a:p>
        </p:txBody>
      </p:sp>
      <p:sp>
        <p:nvSpPr>
          <p:cNvPr id="23" name="Text 19"/>
          <p:cNvSpPr/>
          <p:nvPr/>
        </p:nvSpPr>
        <p:spPr>
          <a:xfrm>
            <a:off x="6912864" y="40965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A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action</a:t>
            </a:r>
            <a:endParaRPr lang="en-US" sz="1130" dirty="0"/>
          </a:p>
        </p:txBody>
      </p:sp>
      <p:sp>
        <p:nvSpPr>
          <p:cNvPr id="24" name="Text 20"/>
          <p:cNvSpPr/>
          <p:nvPr/>
        </p:nvSpPr>
        <p:spPr>
          <a:xfrm>
            <a:off x="8897112" y="4096512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6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recorded</a:t>
            </a:r>
            <a:endParaRPr lang="en-US" sz="1130" dirty="0"/>
          </a:p>
        </p:txBody>
      </p:sp>
      <p:sp>
        <p:nvSpPr>
          <p:cNvPr id="25" name="Text 21"/>
          <p:cNvSpPr/>
          <p:nvPr/>
        </p:nvSpPr>
        <p:spPr>
          <a:xfrm>
            <a:off x="6912864" y="47091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AAC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approval</a:t>
            </a:r>
            <a:endParaRPr lang="en-US" sz="1130" dirty="0"/>
          </a:p>
        </p:txBody>
      </p:sp>
      <p:sp>
        <p:nvSpPr>
          <p:cNvPr id="26" name="Text 22"/>
          <p:cNvSpPr/>
          <p:nvPr/>
        </p:nvSpPr>
        <p:spPr>
          <a:xfrm>
            <a:off x="8897112" y="47091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68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completed</a:t>
            </a:r>
            <a:endParaRPr lang="en-US" sz="1130" dirty="0"/>
          </a:p>
        </p:txBody>
      </p:sp>
      <p:sp>
        <p:nvSpPr>
          <p:cNvPr id="27" name="Shape 23"/>
          <p:cNvSpPr/>
          <p:nvPr/>
        </p:nvSpPr>
        <p:spPr>
          <a:xfrm>
            <a:off x="6885432" y="5330952"/>
            <a:ext cx="4142232" cy="246888"/>
          </a:xfrm>
          <a:prstGeom prst="roundRect">
            <a:avLst>
              <a:gd name="adj" fmla="val 51852"/>
            </a:avLst>
          </a:prstGeom>
          <a:solidFill>
            <a:srgbClr val="314455"/>
          </a:solidFill>
          <a:ln w="12700">
            <a:solidFill>
              <a:srgbClr val="314455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67728" y="5367528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C0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MARKED SAFE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768096" y="6062472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display hides personal identity, internal comments and sensitive case data.</a:t>
            </a:r>
            <a:endParaRPr lang="en-US" sz="1160" dirty="0"/>
          </a:p>
        </p:txBody>
      </p:sp>
      <p:sp>
        <p:nvSpPr>
          <p:cNvPr id="30" name="Shape 26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31" name="Text 27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32" name="Text 28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THE CONTROL CENTRE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real workflow — not just another complaint list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dashboard for authorised municipal teams and inspectors.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2039112"/>
            <a:ext cx="10853928" cy="4133088"/>
          </a:xfrm>
          <a:prstGeom prst="roundRect">
            <a:avLst>
              <a:gd name="adj" fmla="val 3097"/>
            </a:avLst>
          </a:prstGeom>
          <a:solidFill>
            <a:srgbClr val="FDFEFF"/>
          </a:solidFill>
          <a:ln w="12700">
            <a:solidFill>
              <a:srgbClr val="C6D8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039112"/>
            <a:ext cx="10853928" cy="448056"/>
          </a:xfrm>
          <a:prstGeom prst="rect">
            <a:avLst>
              <a:gd name="adj" fmla="val 28571"/>
            </a:avLst>
          </a:prstGeom>
          <a:solidFill>
            <a:srgbClr val="12354B"/>
          </a:solidFill>
          <a:ln w="12700">
            <a:solidFill>
              <a:srgbClr val="1235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212848"/>
            <a:ext cx="91440" cy="91440"/>
          </a:xfrm>
          <a:prstGeom prst="ellipse">
            <a:avLst>
              <a:gd name="adj" fmla="val 140000"/>
            </a:avLst>
          </a:prstGeom>
          <a:solidFill>
            <a:srgbClr val="FF6868"/>
          </a:solidFill>
          <a:ln w="12700">
            <a:solidFill>
              <a:srgbClr val="FF686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" y="2212848"/>
            <a:ext cx="91440" cy="91440"/>
          </a:xfrm>
          <a:prstGeom prst="ellipse">
            <a:avLst>
              <a:gd name="adj" fmla="val 140000"/>
            </a:avLst>
          </a:prstGeom>
          <a:solidFill>
            <a:srgbClr val="F3B949"/>
          </a:solidFill>
          <a:ln w="12700">
            <a:solidFill>
              <a:srgbClr val="F3B94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6152" y="2212848"/>
            <a:ext cx="91440" cy="91440"/>
          </a:xfrm>
          <a:prstGeom prst="ellipse">
            <a:avLst>
              <a:gd name="adj" fmla="val 140000"/>
            </a:avLst>
          </a:prstGeom>
          <a:solidFill>
            <a:srgbClr val="32E5C2"/>
          </a:solidFill>
          <a:ln w="12700">
            <a:solidFill>
              <a:srgbClr val="32E5C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7048" y="215798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C4D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safeguard.local / operations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0341864" y="2157984"/>
            <a:ext cx="850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6656" y="2496312"/>
            <a:ext cx="1801368" cy="3657600"/>
          </a:xfrm>
          <a:prstGeom prst="rect">
            <a:avLst>
              <a:gd name="adj" fmla="val 7107"/>
            </a:avLst>
          </a:prstGeom>
          <a:solidFill>
            <a:srgbClr val="0B2A3E"/>
          </a:solidFill>
          <a:ln w="12700">
            <a:solidFill>
              <a:srgbClr val="0B2A3E">
                <a:alpha val="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761488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98448" y="2770632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544" y="3392424"/>
            <a:ext cx="164592" cy="164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61872" y="33649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9CC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758952" y="3794760"/>
            <a:ext cx="1618488" cy="365760"/>
          </a:xfrm>
          <a:prstGeom prst="roundRect">
            <a:avLst>
              <a:gd name="adj" fmla="val 35000"/>
            </a:avLst>
          </a:prstGeom>
          <a:solidFill>
            <a:srgbClr val="164F55"/>
          </a:solidFill>
          <a:ln w="12700">
            <a:solidFill>
              <a:srgbClr val="164F55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544" y="3895344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61872" y="38679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Hazards</a:t>
            </a:r>
            <a:endParaRPr lang="en-US" sz="96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544" y="4398264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61872" y="437083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9CC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actions</a:t>
            </a:r>
            <a:endParaRPr lang="en-US" sz="96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544" y="4901184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61872" y="48737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9CC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Inspections</a:t>
            </a:r>
            <a:endParaRPr lang="en-US" sz="96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544" y="5404104"/>
            <a:ext cx="164592" cy="16459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53766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B9CC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</a:t>
            </a:r>
            <a:endParaRPr lang="en-US" sz="960" dirty="0"/>
          </a:p>
        </p:txBody>
      </p:sp>
      <p:sp>
        <p:nvSpPr>
          <p:cNvPr id="26" name="Text 18"/>
          <p:cNvSpPr/>
          <p:nvPr/>
        </p:nvSpPr>
        <p:spPr>
          <a:xfrm>
            <a:off x="2715768" y="2706624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6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overview</a:t>
            </a:r>
            <a:endParaRPr lang="en-US" sz="1860" dirty="0"/>
          </a:p>
        </p:txBody>
      </p:sp>
      <p:sp>
        <p:nvSpPr>
          <p:cNvPr id="27" name="Text 19"/>
          <p:cNvSpPr/>
          <p:nvPr/>
        </p:nvSpPr>
        <p:spPr>
          <a:xfrm>
            <a:off x="2724912" y="3035808"/>
            <a:ext cx="58430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A82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case data — not a live municipality</a:t>
            </a:r>
            <a:endParaRPr lang="en-US" sz="930" dirty="0"/>
          </a:p>
        </p:txBody>
      </p:sp>
      <p:sp>
        <p:nvSpPr>
          <p:cNvPr id="28" name="Shape 20"/>
          <p:cNvSpPr/>
          <p:nvPr/>
        </p:nvSpPr>
        <p:spPr>
          <a:xfrm>
            <a:off x="2724912" y="3410712"/>
            <a:ext cx="1947672" cy="694944"/>
          </a:xfrm>
          <a:prstGeom prst="roundRect">
            <a:avLst>
              <a:gd name="adj" fmla="val 18421"/>
            </a:avLst>
          </a:prstGeom>
          <a:solidFill>
            <a:srgbClr val="F2F6F8"/>
          </a:solidFill>
          <a:ln w="7620">
            <a:solidFill>
              <a:srgbClr val="DCE5E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907792" y="35112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95F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2916936" y="38587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UNCONTAINED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4837176" y="3410712"/>
            <a:ext cx="1947672" cy="694944"/>
          </a:xfrm>
          <a:prstGeom prst="roundRect">
            <a:avLst>
              <a:gd name="adj" fmla="val 18421"/>
            </a:avLst>
          </a:prstGeom>
          <a:solidFill>
            <a:srgbClr val="F2F6F8"/>
          </a:solidFill>
          <a:ln w="7620">
            <a:solidFill>
              <a:srgbClr val="DCE5E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020056" y="35112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A3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5029200" y="38587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DUE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6949440" y="3410712"/>
            <a:ext cx="1947672" cy="694944"/>
          </a:xfrm>
          <a:prstGeom prst="roundRect">
            <a:avLst>
              <a:gd name="adj" fmla="val 18421"/>
            </a:avLst>
          </a:prstGeom>
          <a:solidFill>
            <a:srgbClr val="F2F6F8"/>
          </a:solidFill>
          <a:ln w="7620">
            <a:solidFill>
              <a:srgbClr val="DCE5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132320" y="35112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98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7141464" y="38587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TEMP. PROTECTED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9061704" y="3410712"/>
            <a:ext cx="1947672" cy="694944"/>
          </a:xfrm>
          <a:prstGeom prst="roundRect">
            <a:avLst>
              <a:gd name="adj" fmla="val 18421"/>
            </a:avLst>
          </a:prstGeom>
          <a:solidFill>
            <a:srgbClr val="F2F6F8"/>
          </a:solidFill>
          <a:ln w="7620">
            <a:solidFill>
              <a:srgbClr val="DCE5E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244584" y="35112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080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9253728" y="3858768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CLOSED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2724912" y="4306824"/>
            <a:ext cx="6053328" cy="1490472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 w="8255">
            <a:solidFill>
              <a:srgbClr val="DDE7EB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898648" y="4498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6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CASES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2907792" y="480060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SG-1042</a:t>
            </a:r>
            <a:endParaRPr lang="en-US" sz="890" dirty="0"/>
          </a:p>
        </p:txBody>
      </p:sp>
      <p:sp>
        <p:nvSpPr>
          <p:cNvPr id="43" name="Text 35"/>
          <p:cNvSpPr/>
          <p:nvPr/>
        </p:nvSpPr>
        <p:spPr>
          <a:xfrm>
            <a:off x="3730752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 / school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7086600" y="480060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E25A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UNCONTAINED</a:t>
            </a:r>
            <a:endParaRPr lang="en-US" sz="860" dirty="0"/>
          </a:p>
        </p:txBody>
      </p:sp>
      <p:sp>
        <p:nvSpPr>
          <p:cNvPr id="45" name="Text 37"/>
          <p:cNvSpPr/>
          <p:nvPr/>
        </p:nvSpPr>
        <p:spPr>
          <a:xfrm>
            <a:off x="2907792" y="511149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SG-1037</a:t>
            </a:r>
            <a:endParaRPr lang="en-US" sz="890" dirty="0"/>
          </a:p>
        </p:txBody>
      </p:sp>
      <p:sp>
        <p:nvSpPr>
          <p:cNvPr id="46" name="Text 38"/>
          <p:cNvSpPr/>
          <p:nvPr/>
        </p:nvSpPr>
        <p:spPr>
          <a:xfrm>
            <a:off x="3730752" y="51114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wiring / stop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086600" y="5111496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CA6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REVIEW</a:t>
            </a:r>
            <a:endParaRPr lang="en-US" sz="860" dirty="0"/>
          </a:p>
        </p:txBody>
      </p:sp>
      <p:sp>
        <p:nvSpPr>
          <p:cNvPr id="48" name="Text 40"/>
          <p:cNvSpPr/>
          <p:nvPr/>
        </p:nvSpPr>
        <p:spPr>
          <a:xfrm>
            <a:off x="2907792" y="5422392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SG-1021</a:t>
            </a:r>
            <a:endParaRPr lang="en-US" sz="890" dirty="0"/>
          </a:p>
        </p:txBody>
      </p:sp>
      <p:sp>
        <p:nvSpPr>
          <p:cNvPr id="49" name="Text 41"/>
          <p:cNvSpPr/>
          <p:nvPr/>
        </p:nvSpPr>
        <p:spPr>
          <a:xfrm>
            <a:off x="3730752" y="5422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Damaged pathway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7086600" y="542239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0A1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</a:t>
            </a:r>
            <a:endParaRPr lang="en-US" sz="860" dirty="0"/>
          </a:p>
        </p:txBody>
      </p:sp>
      <p:sp>
        <p:nvSpPr>
          <p:cNvPr id="51" name="Shape 43"/>
          <p:cNvSpPr/>
          <p:nvPr/>
        </p:nvSpPr>
        <p:spPr>
          <a:xfrm>
            <a:off x="8997696" y="4306824"/>
            <a:ext cx="2249424" cy="1490472"/>
          </a:xfrm>
          <a:prstGeom prst="roundRect">
            <a:avLst>
              <a:gd name="adj" fmla="val 8589"/>
            </a:avLst>
          </a:prstGeom>
          <a:solidFill>
            <a:srgbClr val="E4F0ED"/>
          </a:solidFill>
          <a:ln w="8255">
            <a:solidFill>
              <a:srgbClr val="D3E1E4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9125712" y="4416552"/>
            <a:ext cx="1984248" cy="0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3" name="Shape 45"/>
          <p:cNvSpPr/>
          <p:nvPr/>
        </p:nvSpPr>
        <p:spPr>
          <a:xfrm>
            <a:off x="9125712" y="4745736"/>
            <a:ext cx="1984248" cy="0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4" name="Shape 46"/>
          <p:cNvSpPr/>
          <p:nvPr/>
        </p:nvSpPr>
        <p:spPr>
          <a:xfrm>
            <a:off x="9125712" y="5074920"/>
            <a:ext cx="1984248" cy="0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5" name="Shape 47"/>
          <p:cNvSpPr/>
          <p:nvPr/>
        </p:nvSpPr>
        <p:spPr>
          <a:xfrm>
            <a:off x="9125712" y="5404104"/>
            <a:ext cx="1984248" cy="0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6" name="Shape 48"/>
          <p:cNvSpPr/>
          <p:nvPr/>
        </p:nvSpPr>
        <p:spPr>
          <a:xfrm>
            <a:off x="9235440" y="4370832"/>
            <a:ext cx="0" cy="1344168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7" name="Shape 49"/>
          <p:cNvSpPr/>
          <p:nvPr/>
        </p:nvSpPr>
        <p:spPr>
          <a:xfrm>
            <a:off x="9784080" y="4370832"/>
            <a:ext cx="0" cy="1344168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8" name="Shape 50"/>
          <p:cNvSpPr/>
          <p:nvPr/>
        </p:nvSpPr>
        <p:spPr>
          <a:xfrm>
            <a:off x="10332720" y="4370832"/>
            <a:ext cx="0" cy="1344168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59" name="Shape 51"/>
          <p:cNvSpPr/>
          <p:nvPr/>
        </p:nvSpPr>
        <p:spPr>
          <a:xfrm>
            <a:off x="10881360" y="4370832"/>
            <a:ext cx="0" cy="1344168"/>
          </a:xfrm>
          <a:prstGeom prst="line">
            <a:avLst/>
          </a:prstGeom>
          <a:noFill/>
          <a:ln w="25400">
            <a:solidFill>
              <a:srgbClr val="C1D8D7"/>
            </a:solidFill>
            <a:prstDash val="solid"/>
            <a:headEnd type="none"/>
            <a:tailEnd type="none"/>
          </a:ln>
        </p:spPr>
      </p:sp>
      <p:sp>
        <p:nvSpPr>
          <p:cNvPr id="60" name="Shape 52"/>
          <p:cNvSpPr/>
          <p:nvPr/>
        </p:nvSpPr>
        <p:spPr>
          <a:xfrm>
            <a:off x="9729216" y="4782312"/>
            <a:ext cx="164592" cy="164592"/>
          </a:xfrm>
          <a:prstGeom prst="ellipse">
            <a:avLst>
              <a:gd name="adj" fmla="val 77778"/>
            </a:avLst>
          </a:prstGeom>
          <a:solidFill>
            <a:srgbClr val="FF6868"/>
          </a:solidFill>
          <a:ln w="12700">
            <a:solidFill>
              <a:srgbClr val="FF6868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9788469" y="4841565"/>
            <a:ext cx="45263" cy="45263"/>
          </a:xfrm>
          <a:prstGeom prst="ellipse">
            <a:avLst>
              <a:gd name="adj" fmla="val 282827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0616184" y="5285232"/>
            <a:ext cx="164592" cy="164592"/>
          </a:xfrm>
          <a:prstGeom prst="ellipse">
            <a:avLst>
              <a:gd name="adj" fmla="val 77778"/>
            </a:avLst>
          </a:prstGeom>
          <a:solidFill>
            <a:srgbClr val="F3B949"/>
          </a:solidFill>
          <a:ln w="12700">
            <a:solidFill>
              <a:srgbClr val="F3B949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0675437" y="5344485"/>
            <a:ext cx="45263" cy="45263"/>
          </a:xfrm>
          <a:prstGeom prst="ellipse">
            <a:avLst>
              <a:gd name="adj" fmla="val 282827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0104120" y="5321808"/>
            <a:ext cx="164592" cy="164592"/>
          </a:xfrm>
          <a:prstGeom prst="ellipse">
            <a:avLst>
              <a:gd name="adj" fmla="val 77778"/>
            </a:avLst>
          </a:prstGeom>
          <a:solidFill>
            <a:srgbClr val="32E5C2"/>
          </a:solidFill>
          <a:ln w="12700">
            <a:solidFill>
              <a:srgbClr val="32E5C2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0163373" y="5381061"/>
            <a:ext cx="45263" cy="45263"/>
          </a:xfrm>
          <a:prstGeom prst="ellipse">
            <a:avLst>
              <a:gd name="adj" fmla="val 282827"/>
            </a:avLst>
          </a:prstGeom>
          <a:solidFill>
            <a:srgbClr val="FAFCFF"/>
          </a:solidFill>
          <a:ln w="12700">
            <a:solidFill>
              <a:srgbClr val="FAFCFF">
                <a:alpha val="0"/>
              </a:srgbClr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713232" y="6254496"/>
            <a:ext cx="10716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focus: which hazards are still uncontained, and who is responsible?</a:t>
            </a:r>
            <a:endParaRPr lang="en-US" sz="1160" dirty="0"/>
          </a:p>
        </p:txBody>
      </p:sp>
      <p:sp>
        <p:nvSpPr>
          <p:cNvPr id="67" name="Shape 59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68" name="Text 60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TRUST AND EVIDENCE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Safety is verified by people who are qualified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teams record actions. Inspectors decide whether protection or repairs are acceptable.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5157216" cy="3739896"/>
          </a:xfrm>
          <a:prstGeom prst="roundRect">
            <a:avLst>
              <a:gd name="adj" fmla="val 3423"/>
            </a:avLst>
          </a:prstGeom>
          <a:solidFill>
            <a:srgbClr val="142C42"/>
          </a:solidFill>
          <a:ln w="9525">
            <a:solidFill>
              <a:srgbClr val="304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5915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TEAM  /  ACTION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78408" y="2862072"/>
            <a:ext cx="4489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Temporary barrier installed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96696" y="3611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203704" y="3611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SG-1042 • Open manhole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96696" y="41148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203704" y="41148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 + technician notes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96696" y="46177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203704" y="4617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inspector sign-off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978408" y="5239512"/>
            <a:ext cx="4425696" cy="347472"/>
          </a:xfrm>
          <a:prstGeom prst="roundRect">
            <a:avLst>
              <a:gd name="adj" fmla="val 36842"/>
            </a:avLst>
          </a:prstGeom>
          <a:solidFill>
            <a:srgbClr val="3E3A2B"/>
          </a:solidFill>
          <a:ln w="12700">
            <a:solidFill>
              <a:srgbClr val="3E3A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53035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spc="80" kern="0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 ≠  VERIFIED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6236208" y="2084832"/>
            <a:ext cx="5230368" cy="3739896"/>
          </a:xfrm>
          <a:prstGeom prst="roundRect">
            <a:avLst>
              <a:gd name="adj" fmla="val 3423"/>
            </a:avLst>
          </a:prstGeom>
          <a:solidFill>
            <a:srgbClr val="152F40"/>
          </a:solidFill>
          <a:ln w="9525">
            <a:solidFill>
              <a:srgbClr val="2A76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359152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spc="9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INSPECTOR  /  REVIEW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547104" y="286207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4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 the site. Confirm the barrier.</a:t>
            </a:r>
            <a:endParaRPr lang="en-US" sz="2040" dirty="0"/>
          </a:p>
        </p:txBody>
      </p:sp>
      <p:sp>
        <p:nvSpPr>
          <p:cNvPr id="19" name="Text 17"/>
          <p:cNvSpPr/>
          <p:nvPr/>
        </p:nvSpPr>
        <p:spPr>
          <a:xfrm>
            <a:off x="6547104" y="3703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evidence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8156448" y="3703320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Received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547104" y="4197096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assessment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156448" y="4197096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547104" y="469087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status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8156448" y="4690872"/>
            <a:ext cx="2953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Remains uncontained until approval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537960" y="5248656"/>
            <a:ext cx="4498848" cy="347472"/>
          </a:xfrm>
          <a:prstGeom prst="roundRect">
            <a:avLst>
              <a:gd name="adj" fmla="val 36842"/>
            </a:avLst>
          </a:prstGeom>
          <a:solidFill>
            <a:srgbClr val="174B42"/>
          </a:solidFill>
          <a:ln w="12700">
            <a:solidFill>
              <a:srgbClr val="174B4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5312664"/>
            <a:ext cx="4288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spc="7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ONLY AFTER APPROVAL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740664" y="6126480"/>
            <a:ext cx="10991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Important: the app cannot certify that equipment or infrastructure is safe by itself.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DEMO STORY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hazardous manhole. One accountable journey.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entire demonstration can run with fictional records and no government API.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286000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32888"/>
            <a:ext cx="493776" cy="493776"/>
          </a:xfrm>
          <a:prstGeom prst="ellipse">
            <a:avLst>
              <a:gd name="adj" fmla="val 25926"/>
            </a:avLst>
          </a:prstGeom>
          <a:solidFill>
            <a:srgbClr val="DCE9EF"/>
          </a:solidFill>
          <a:ln w="12700">
            <a:solidFill>
              <a:srgbClr val="DCE9E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42616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545336" y="247802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 reports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63624" y="3008376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manhole near a school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553712" y="2286000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2532888"/>
            <a:ext cx="493776" cy="493776"/>
          </a:xfrm>
          <a:prstGeom prst="ellipse">
            <a:avLst>
              <a:gd name="adj" fmla="val 25926"/>
            </a:avLst>
          </a:prstGeom>
          <a:solidFill>
            <a:srgbClr val="DCE9EF"/>
          </a:solidFill>
          <a:ln w="12700">
            <a:solidFill>
              <a:srgbClr val="DCE9E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642616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5404104" y="247802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triages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22392" y="3008376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 inspection required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31936" y="2532888"/>
            <a:ext cx="493776" cy="493776"/>
          </a:xfrm>
          <a:prstGeom prst="ellipse">
            <a:avLst>
              <a:gd name="adj" fmla="val 25926"/>
            </a:avLst>
          </a:prstGeom>
          <a:solidFill>
            <a:srgbClr val="DCE9EF"/>
          </a:solidFill>
          <a:ln w="12700">
            <a:solidFill>
              <a:srgbClr val="DCE9E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2642616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9262872" y="247802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protects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1160" y="3008376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Barrier action recorded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94944" y="3959352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206240"/>
            <a:ext cx="493776" cy="493776"/>
          </a:xfrm>
          <a:prstGeom prst="ellipse">
            <a:avLst>
              <a:gd name="adj" fmla="val 25926"/>
            </a:avLst>
          </a:prstGeom>
          <a:solidFill>
            <a:srgbClr val="DCE9EF"/>
          </a:solidFill>
          <a:ln w="12700">
            <a:solidFill>
              <a:srgbClr val="DCE9E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1596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1545336" y="4151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checks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63624" y="4681728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Interim protection verified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4553712" y="3959352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4206240"/>
            <a:ext cx="493776" cy="493776"/>
          </a:xfrm>
          <a:prstGeom prst="ellipse">
            <a:avLst>
              <a:gd name="adj" fmla="val 25926"/>
            </a:avLst>
          </a:prstGeom>
          <a:solidFill>
            <a:srgbClr val="DCE9EF"/>
          </a:solidFill>
          <a:ln w="12700">
            <a:solidFill>
              <a:srgbClr val="DCE9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31596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5404104" y="4151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 repairs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22392" y="4681728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 cover fitted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8412480" y="3959352"/>
            <a:ext cx="3648456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6E3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31936" y="4206240"/>
            <a:ext cx="493776" cy="493776"/>
          </a:xfrm>
          <a:prstGeom prst="ellipse">
            <a:avLst>
              <a:gd name="adj" fmla="val 25926"/>
            </a:avLst>
          </a:prstGeom>
          <a:solidFill>
            <a:srgbClr val="B7F3E3"/>
          </a:solidFill>
          <a:ln w="12700">
            <a:solidFill>
              <a:srgbClr val="B7F3E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31936" y="431596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C65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9262872" y="415137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closes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81160" y="4681728"/>
            <a:ext cx="2578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verified; case resolved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731520" y="5806440"/>
            <a:ext cx="10890504" cy="393192"/>
          </a:xfrm>
          <a:prstGeom prst="roundRect">
            <a:avLst>
              <a:gd name="adj" fmla="val 32558"/>
            </a:avLst>
          </a:prstGeom>
          <a:solidFill>
            <a:srgbClr val="E2F5EE"/>
          </a:solidFill>
          <a:ln w="12700">
            <a:solidFill>
              <a:srgbClr val="E2F5EE">
                <a:alpha val="0"/>
              </a:srgbClr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688" y="5916168"/>
            <a:ext cx="164592" cy="16459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43584" y="5888736"/>
            <a:ext cx="9848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64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is never marked safe solely because a ticket was opened or a contractor was assigned.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39" name="Text 36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WHY THIS, NOT ANOTHER REPORTING APP?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difference is in the safety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products already report municipal issues. We should not pretend that space is empty.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" y="2240280"/>
            <a:ext cx="10716768" cy="1271016"/>
          </a:xfrm>
          <a:prstGeom prst="roundRect">
            <a:avLst>
              <a:gd name="adj" fmla="val 10072"/>
            </a:avLst>
          </a:prstGeom>
          <a:solidFill>
            <a:srgbClr val="162D40"/>
          </a:solidFill>
          <a:ln w="9525">
            <a:solidFill>
              <a:srgbClr val="3046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633472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404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reporting platforms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00016" y="2423160"/>
            <a:ext cx="4352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faults, provide updates, support escalation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9253728" y="2578608"/>
            <a:ext cx="1892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3B9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and awareness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722376" y="3758184"/>
            <a:ext cx="10716768" cy="1271016"/>
          </a:xfrm>
          <a:prstGeom prst="roundRect">
            <a:avLst>
              <a:gd name="adj" fmla="val 10072"/>
            </a:avLst>
          </a:prstGeom>
          <a:solidFill>
            <a:srgbClr val="143C38"/>
          </a:solidFill>
          <a:ln w="9525">
            <a:solidFill>
              <a:srgbClr val="27918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15137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92277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(proposed)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0016" y="3941064"/>
            <a:ext cx="4352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interim protection, verification, repairs and sign-off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9253728" y="4096512"/>
            <a:ext cx="18928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safety control</a:t>
            </a:r>
            <a:endParaRPr lang="en-US" sz="1140" dirty="0"/>
          </a:p>
        </p:txBody>
      </p:sp>
      <p:sp>
        <p:nvSpPr>
          <p:cNvPr id="15" name="Text 11"/>
          <p:cNvSpPr/>
          <p:nvPr/>
        </p:nvSpPr>
        <p:spPr>
          <a:xfrm>
            <a:off x="777240" y="55686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ALTERNATIVES TO VALIDATE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77240" y="59161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of Johannesburg Service Delivery App  ·  CityMenderSA  ·  Fixlocal</a:t>
            </a:r>
            <a:endParaRPr lang="en-US" sz="1510" dirty="0"/>
          </a:p>
        </p:txBody>
      </p:sp>
      <p:sp>
        <p:nvSpPr>
          <p:cNvPr id="17" name="Text 13"/>
          <p:cNvSpPr/>
          <p:nvPr/>
        </p:nvSpPr>
        <p:spPr>
          <a:xfrm>
            <a:off x="777240" y="633679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must confirm the operational gap with municipalities or mentors before claiming market uniqueness.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20" name="Text 16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WHAT WE CAN ACTUALLY 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realistic hackathon MVP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reliable end-to-end case is worth more than ten unfinished features.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139696"/>
            <a:ext cx="6793992" cy="358444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3E2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368296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DFF5EF"/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412187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8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1536192" y="2354580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 reporting form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960120" y="2852928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DFF5EF"/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896819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8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536192" y="2839212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review and assignment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960120" y="3337560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DFF5EF"/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381451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8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1536192" y="3323844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Interim protection record + inspector approval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960120" y="3822192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DFF5EF"/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3866083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8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536192" y="3808476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 record + verified closure</a:t>
            </a:r>
            <a:endParaRPr lang="en-US" sz="1310" dirty="0"/>
          </a:p>
        </p:txBody>
      </p:sp>
      <p:sp>
        <p:nvSpPr>
          <p:cNvPr id="18" name="Shape 16"/>
          <p:cNvSpPr/>
          <p:nvPr/>
        </p:nvSpPr>
        <p:spPr>
          <a:xfrm>
            <a:off x="960120" y="4306824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DFF5EF"/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" y="4350715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48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536192" y="4293108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status + audit log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60120" y="4791456"/>
            <a:ext cx="420624" cy="256032"/>
          </a:xfrm>
          <a:prstGeom prst="roundRect">
            <a:avLst>
              <a:gd name="adj" fmla="val 50000"/>
            </a:avLst>
          </a:prstGeom>
          <a:solidFill>
            <a:srgbClr val="E8EEF3"/>
          </a:solidFill>
          <a:ln w="12700">
            <a:solidFill>
              <a:srgbClr val="E8EEF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4835347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380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536192" y="4777740"/>
            <a:ext cx="565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Map, filters and repeat-risk insights</a:t>
            </a:r>
            <a:endParaRPr lang="en-US" sz="1310" dirty="0"/>
          </a:p>
        </p:txBody>
      </p:sp>
      <p:sp>
        <p:nvSpPr>
          <p:cNvPr id="24" name="Shape 22"/>
          <p:cNvSpPr/>
          <p:nvPr/>
        </p:nvSpPr>
        <p:spPr>
          <a:xfrm>
            <a:off x="7763256" y="2139696"/>
            <a:ext cx="3730752" cy="3584448"/>
          </a:xfrm>
          <a:prstGeom prst="roundRect">
            <a:avLst>
              <a:gd name="adj" fmla="val 3571"/>
            </a:avLst>
          </a:prstGeom>
          <a:solidFill>
            <a:srgbClr val="12374C"/>
          </a:solidFill>
          <a:ln w="9525">
            <a:solidFill>
              <a:srgbClr val="2C65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83296" y="24231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spc="10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TECH STACK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8110728" y="2962656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962656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Tailwind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10728" y="3566160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356616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/ PostgreSQL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10728" y="4169664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0" y="41696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10728" y="4773168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35440" y="4773168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case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601675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product/research (2) • UX (2) • operations (2) • integration (2) • QA/pitch (2). Confirm whether teams of ten are permitted.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REAL-WORLD 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How we know it makes a difference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whether people become safer sooner — not just how many reports exist.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2194560"/>
            <a:ext cx="5577840" cy="1261872"/>
          </a:xfrm>
          <a:prstGeom prst="roundRect">
            <a:avLst>
              <a:gd name="adj" fmla="val 10145"/>
            </a:avLst>
          </a:prstGeom>
          <a:solidFill>
            <a:srgbClr val="153047"/>
          </a:solidFill>
          <a:ln w="9525">
            <a:solidFill>
              <a:srgbClr val="3046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2569464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2496" y="2468880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ASSESS</a:t>
            </a:r>
            <a:endParaRPr lang="en-US" sz="1370" dirty="0"/>
          </a:p>
        </p:txBody>
      </p:sp>
      <p:sp>
        <p:nvSpPr>
          <p:cNvPr id="8" name="Text 5"/>
          <p:cNvSpPr/>
          <p:nvPr/>
        </p:nvSpPr>
        <p:spPr>
          <a:xfrm>
            <a:off x="1691640" y="2862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→ qualified triage</a:t>
            </a:r>
            <a:endParaRPr lang="en-US" sz="1210" dirty="0"/>
          </a:p>
        </p:txBody>
      </p:sp>
      <p:sp>
        <p:nvSpPr>
          <p:cNvPr id="9" name="Shape 6"/>
          <p:cNvSpPr/>
          <p:nvPr/>
        </p:nvSpPr>
        <p:spPr>
          <a:xfrm>
            <a:off x="6483096" y="2194560"/>
            <a:ext cx="5577840" cy="1261872"/>
          </a:xfrm>
          <a:prstGeom prst="roundRect">
            <a:avLst>
              <a:gd name="adj" fmla="val 10145"/>
            </a:avLst>
          </a:prstGeom>
          <a:solidFill>
            <a:srgbClr val="153047"/>
          </a:solidFill>
          <a:ln w="9525">
            <a:solidFill>
              <a:srgbClr val="3046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5704" y="2569464"/>
            <a:ext cx="466344" cy="4663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0648" y="2468880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UNCONTAINED</a:t>
            </a:r>
            <a:endParaRPr lang="en-US" sz="1370" dirty="0"/>
          </a:p>
        </p:txBody>
      </p:sp>
      <p:sp>
        <p:nvSpPr>
          <p:cNvPr id="12" name="Text 8"/>
          <p:cNvSpPr/>
          <p:nvPr/>
        </p:nvSpPr>
        <p:spPr>
          <a:xfrm>
            <a:off x="7479792" y="2862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risk → verified protection</a:t>
            </a:r>
            <a:endParaRPr lang="en-US" sz="1210" dirty="0"/>
          </a:p>
        </p:txBody>
      </p:sp>
      <p:sp>
        <p:nvSpPr>
          <p:cNvPr id="13" name="Shape 9"/>
          <p:cNvSpPr/>
          <p:nvPr/>
        </p:nvSpPr>
        <p:spPr>
          <a:xfrm>
            <a:off x="694944" y="3685032"/>
            <a:ext cx="5577840" cy="1261872"/>
          </a:xfrm>
          <a:prstGeom prst="roundRect">
            <a:avLst>
              <a:gd name="adj" fmla="val 10145"/>
            </a:avLst>
          </a:prstGeom>
          <a:solidFill>
            <a:srgbClr val="153047"/>
          </a:solidFill>
          <a:ln w="9525">
            <a:solidFill>
              <a:srgbClr val="30465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" y="4059936"/>
            <a:ext cx="466344" cy="4663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82496" y="3959352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 QUALITY</a:t>
            </a:r>
            <a:endParaRPr lang="en-US" sz="1370" dirty="0"/>
          </a:p>
        </p:txBody>
      </p:sp>
      <p:sp>
        <p:nvSpPr>
          <p:cNvPr id="16" name="Text 11"/>
          <p:cNvSpPr/>
          <p:nvPr/>
        </p:nvSpPr>
        <p:spPr>
          <a:xfrm>
            <a:off x="1691640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Repairs with qualified sign-off</a:t>
            </a:r>
            <a:endParaRPr lang="en-US" sz="1210" dirty="0"/>
          </a:p>
        </p:txBody>
      </p:sp>
      <p:sp>
        <p:nvSpPr>
          <p:cNvPr id="17" name="Shape 12"/>
          <p:cNvSpPr/>
          <p:nvPr/>
        </p:nvSpPr>
        <p:spPr>
          <a:xfrm>
            <a:off x="6483096" y="3685032"/>
            <a:ext cx="5577840" cy="1261872"/>
          </a:xfrm>
          <a:prstGeom prst="roundRect">
            <a:avLst>
              <a:gd name="adj" fmla="val 10145"/>
            </a:avLst>
          </a:prstGeom>
          <a:solidFill>
            <a:srgbClr val="153047"/>
          </a:solidFill>
          <a:ln w="9525">
            <a:solidFill>
              <a:srgbClr val="3046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75704" y="4059936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0648" y="3959352"/>
            <a:ext cx="4270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FA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HAZARDS</a:t>
            </a:r>
            <a:endParaRPr lang="en-US" sz="1370" dirty="0"/>
          </a:p>
        </p:txBody>
      </p:sp>
      <p:sp>
        <p:nvSpPr>
          <p:cNvPr id="20" name="Text 14"/>
          <p:cNvSpPr/>
          <p:nvPr/>
        </p:nvSpPr>
        <p:spPr>
          <a:xfrm>
            <a:off x="7479792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asset failing again</a:t>
            </a:r>
            <a:endParaRPr lang="en-US" sz="1210" dirty="0"/>
          </a:p>
        </p:txBody>
      </p:sp>
      <p:sp>
        <p:nvSpPr>
          <p:cNvPr id="21" name="Shape 15"/>
          <p:cNvSpPr/>
          <p:nvPr/>
        </p:nvSpPr>
        <p:spPr>
          <a:xfrm>
            <a:off x="731520" y="5596128"/>
            <a:ext cx="10744200" cy="502920"/>
          </a:xfrm>
          <a:prstGeom prst="roundRect">
            <a:avLst>
              <a:gd name="adj" fmla="val 25455"/>
            </a:avLst>
          </a:prstGeom>
          <a:solidFill>
            <a:srgbClr val="163E3A"/>
          </a:solidFill>
          <a:ln w="11430">
            <a:solidFill>
              <a:srgbClr val="28786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32688" y="5705856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term: proactive inspections + recurring risk hotspots + better infrastructure maintenance decisions.</a:t>
            </a:r>
            <a:endParaRPr lang="en-US" sz="1310" dirty="0"/>
          </a:p>
        </p:txBody>
      </p:sp>
      <p:sp>
        <p:nvSpPr>
          <p:cNvPr id="23" name="Text 17"/>
          <p:cNvSpPr/>
          <p:nvPr/>
        </p:nvSpPr>
        <p:spPr>
          <a:xfrm>
            <a:off x="749808" y="6291072"/>
            <a:ext cx="10652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pilot metrics, not proven outcomes or a promise that the app alone prevents injuries.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630936" y="6537960"/>
            <a:ext cx="10936224" cy="0"/>
          </a:xfrm>
          <a:prstGeom prst="line">
            <a:avLst/>
          </a:prstGeom>
          <a:noFill/>
          <a:ln w="7620">
            <a:solidFill>
              <a:srgbClr val="30465B"/>
            </a:solidFill>
            <a:prstDash val="solid"/>
            <a:headEnd type="none"/>
            <a:tailEnd type="none"/>
          </a:ln>
        </p:spPr>
      </p:sp>
      <p:sp>
        <p:nvSpPr>
          <p:cNvPr id="25" name="Text 19"/>
          <p:cNvSpPr/>
          <p:nvPr/>
        </p:nvSpPr>
        <p:spPr>
          <a:xfrm>
            <a:off x="676656" y="6601968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spc="105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YOUTH TECH EXPO</a:t>
            </a:r>
            <a:endParaRPr lang="en-US" sz="810" dirty="0"/>
          </a:p>
        </p:txBody>
      </p:sp>
      <p:sp>
        <p:nvSpPr>
          <p:cNvPr id="26" name="Text 20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7432"/>
            <a:ext cx="5193792" cy="5193792"/>
          </a:xfrm>
          <a:prstGeom prst="ellipse">
            <a:avLst>
              <a:gd name="adj" fmla="val 2465"/>
            </a:avLst>
          </a:prstGeom>
          <a:solidFill>
            <a:srgbClr val="113248"/>
          </a:solidFill>
          <a:ln w="12700">
            <a:solidFill>
              <a:srgbClr val="1132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29184"/>
            <a:ext cx="4608576" cy="4608576"/>
          </a:xfrm>
          <a:prstGeom prst="ellipse">
            <a:avLst>
              <a:gd name="adj" fmla="val 2778"/>
            </a:avLst>
          </a:prstGeom>
          <a:solidFill>
            <a:srgbClr val="0D273B"/>
          </a:solidFill>
          <a:ln w="12700">
            <a:solidFill>
              <a:srgbClr val="0D273B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6760" y="2212848"/>
            <a:ext cx="2084832" cy="2084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768096"/>
            <a:ext cx="1700784" cy="292608"/>
          </a:xfrm>
          <a:prstGeom prst="roundRect">
            <a:avLst>
              <a:gd name="adj" fmla="val 43750"/>
            </a:avLst>
          </a:prstGeom>
          <a:solidFill>
            <a:srgbClr val="102C45"/>
          </a:solidFill>
          <a:ln w="6350">
            <a:solidFill>
              <a:srgbClr val="304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" y="781812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90" kern="0" dirty="0">
                <a:solidFill>
                  <a:srgbClr val="32E5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MISSION</a:t>
            </a:r>
            <a:endParaRPr lang="en-US" sz="930" dirty="0"/>
          </a:p>
        </p:txBody>
      </p:sp>
      <p:sp>
        <p:nvSpPr>
          <p:cNvPr id="7" name="Text 4"/>
          <p:cNvSpPr/>
          <p:nvPr/>
        </p:nvSpPr>
        <p:spPr>
          <a:xfrm>
            <a:off x="704088" y="1618488"/>
            <a:ext cx="747064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report is not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A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protection.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31520" y="3785616"/>
            <a:ext cx="71963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60" b="1" dirty="0">
                <a:solidFill>
                  <a:srgbClr val="32E5C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Make danger visible.</a:t>
            </a:r>
            <a:endParaRPr lang="en-US" sz="2760" dirty="0"/>
          </a:p>
          <a:p>
            <a:pPr algn="l" indent="0" marL="0">
              <a:buNone/>
            </a:pPr>
            <a:r>
              <a:rPr lang="en-US" sz="2760" b="1" dirty="0">
                <a:solidFill>
                  <a:srgbClr val="32E5C2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Make protection verifiable.</a:t>
            </a:r>
            <a:endParaRPr lang="en-US" sz="2760" dirty="0"/>
          </a:p>
        </p:txBody>
      </p:sp>
      <p:sp>
        <p:nvSpPr>
          <p:cNvPr id="9" name="Text 6"/>
          <p:cNvSpPr/>
          <p:nvPr/>
        </p:nvSpPr>
        <p:spPr>
          <a:xfrm>
            <a:off x="749808" y="6199632"/>
            <a:ext cx="8321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spc="130" kern="0" dirty="0">
                <a:solidFill>
                  <a:srgbClr val="9BAF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•  G12 / FAILING INFRASTRUCTURE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1F7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/ NOTES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85953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93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Evidence, competition and responsible design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for the key claims and boundaries in this internal hackathon visual.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1078077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7620">
            <a:solidFill>
              <a:srgbClr val="D8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031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Johannesburg Water (8 Apr 2025)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4800600" y="2084832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Theft and vandalism of water infrastructure / public safety</a:t>
            </a:r>
            <a:endParaRPr lang="en-US" sz="107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941832" y="2450592"/>
            <a:ext cx="10277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u="sng" dirty="0">
                <a:solidFill>
                  <a:srgbClr val="426E8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https://www.johannesburgwater.co.za/blog/2025/04/08/theft-and-vandalism-of-water-infrastructure-in-johannesburg-is-crippling-effective-service-delivery-2/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713232" y="2907792"/>
            <a:ext cx="1078077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7620">
            <a:solidFill>
              <a:srgbClr val="D8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0175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eNCA (6 Oct 2025)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4800600" y="2999232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Khutsong open-manhole incident</a:t>
            </a:r>
            <a:endParaRPr lang="en-US" sz="1070" dirty="0"/>
          </a:p>
        </p:txBody>
      </p:sp>
      <p:sp>
        <p:nvSpPr>
          <p:cNvPr id="12" name="Text 10">
            <a:hlinkClick r:id="rId2" tooltip=""/>
          </p:cNvPr>
          <p:cNvSpPr/>
          <p:nvPr/>
        </p:nvSpPr>
        <p:spPr>
          <a:xfrm>
            <a:off x="941832" y="3364992"/>
            <a:ext cx="10277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u="sng" dirty="0">
                <a:solidFill>
                  <a:srgbClr val="426E8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https://www.enca.com/top-stories/outrage-over-toddlers-death-open-manhole-khutsong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13232" y="3822192"/>
            <a:ext cx="1078077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7620">
            <a:solidFill>
              <a:srgbClr val="D8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9319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South African Government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4800600" y="3913632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Protection of Personal Information Act (POPIA)</a:t>
            </a:r>
            <a:endParaRPr lang="en-US" sz="1070" dirty="0"/>
          </a:p>
        </p:txBody>
      </p:sp>
      <p:sp>
        <p:nvSpPr>
          <p:cNvPr id="16" name="Text 14">
            <a:hlinkClick r:id="rId3" tooltip=""/>
          </p:cNvPr>
          <p:cNvSpPr/>
          <p:nvPr/>
        </p:nvSpPr>
        <p:spPr>
          <a:xfrm>
            <a:off x="941832" y="4279392"/>
            <a:ext cx="10277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u="sng" dirty="0">
                <a:solidFill>
                  <a:srgbClr val="426E8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https://www.gov.za/documents/protection-personal-information-act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13232" y="4736592"/>
            <a:ext cx="10780776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7620">
            <a:solidFill>
              <a:srgbClr val="D8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846320"/>
            <a:ext cx="3849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0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Concept competitors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4800600" y="4828032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344B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CoJ service delivery app; CityMenderSA; Fixlocal</a:t>
            </a:r>
            <a:endParaRPr lang="en-US" sz="1070" dirty="0"/>
          </a:p>
        </p:txBody>
      </p:sp>
      <p:sp>
        <p:nvSpPr>
          <p:cNvPr id="20" name="Text 18">
            <a:hlinkClick r:id="rId4" tooltip=""/>
          </p:cNvPr>
          <p:cNvSpPr/>
          <p:nvPr/>
        </p:nvSpPr>
        <p:spPr>
          <a:xfrm>
            <a:off x="941832" y="5193792"/>
            <a:ext cx="10277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u="sng" dirty="0">
                <a:solidFill>
                  <a:srgbClr val="426E8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https://www.fixlocal.org.za/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22376" y="5779008"/>
            <a:ext cx="10771632" cy="420624"/>
          </a:xfrm>
          <a:prstGeom prst="roundRect">
            <a:avLst>
              <a:gd name="adj" fmla="val 30435"/>
            </a:avLst>
          </a:prstGeom>
          <a:solidFill>
            <a:srgbClr val="DAF3EB"/>
          </a:solidFill>
          <a:ln w="12700">
            <a:solidFill>
              <a:srgbClr val="DAF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861304"/>
            <a:ext cx="10296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867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ONLY: synthetic demo records, no emergency dispatch, no government integration, and no automated safety certification.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21792" y="6547104"/>
            <a:ext cx="10936224" cy="0"/>
          </a:xfrm>
          <a:prstGeom prst="line">
            <a:avLst/>
          </a:prstGeom>
          <a:noFill/>
          <a:ln w="6985">
            <a:solidFill>
              <a:srgbClr val="C5D0D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658368" y="65928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SAFEGUARD SA  /  CONCEPT VISUALISATION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37392" y="6583680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C84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Youth Tech Expo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SafeGuard SA — From reported danger to verified protection</dc:title>
  <dc:subject>G12 failing infrastructure • community safety innovation</dc:subject>
  <dc:creator>SafeGuard SA | G13 Hackathon</dc:creator>
  <cp:lastModifiedBy>SafeGuard SA | G13 Hackathon</cp:lastModifiedBy>
  <cp:revision>1</cp:revision>
  <dcterms:created xsi:type="dcterms:W3CDTF">2026-10-16T05:47:55Z</dcterms:created>
  <dcterms:modified xsi:type="dcterms:W3CDTF">2026-10-16T05:47:55Z</dcterms:modified>
</cp:coreProperties>
</file>